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e470d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e47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a:t>Hello everyone, and thank you for being here.</a:t>
            </a:r>
            <a:endParaRPr/>
          </a:p>
          <a:p>
            <a:pPr indent="0" lvl="0" marL="0" rtl="0" algn="l">
              <a:lnSpc>
                <a:spcPct val="115000"/>
              </a:lnSpc>
              <a:spcBef>
                <a:spcPts val="600"/>
              </a:spcBef>
              <a:spcAft>
                <a:spcPts val="0"/>
              </a:spcAft>
              <a:buNone/>
            </a:pPr>
            <a:r>
              <a:rPr lang="en"/>
              <a:t>In this presentation we will be sharing our final group project for data 5100, </a:t>
            </a:r>
            <a:r>
              <a:rPr lang="en"/>
              <a:t>briefly</a:t>
            </a:r>
            <a:r>
              <a:rPr lang="en"/>
              <a:t> titled “Carbon Emission Analysis”</a:t>
            </a:r>
            <a:endParaRPr/>
          </a:p>
          <a:p>
            <a:pPr indent="0" lvl="0" marL="0" rtl="0" algn="l">
              <a:lnSpc>
                <a:spcPct val="115000"/>
              </a:lnSpc>
              <a:spcBef>
                <a:spcPts val="600"/>
              </a:spcBef>
              <a:spcAft>
                <a:spcPts val="0"/>
              </a:spcAft>
              <a:buNone/>
            </a:pPr>
            <a:r>
              <a:t/>
            </a:r>
            <a:endParaRPr/>
          </a:p>
          <a:p>
            <a:pPr indent="0" lvl="0" marL="0" rtl="0" algn="l">
              <a:spcBef>
                <a:spcPts val="600"/>
              </a:spcBef>
              <a:spcAft>
                <a:spcPts val="0"/>
              </a:spcAft>
              <a:buNone/>
            </a:pPr>
            <a:r>
              <a:t/>
            </a:r>
            <a:endParaRPr sz="1000">
              <a:solidFill>
                <a:schemeClr val="dk1"/>
              </a:solidFill>
              <a:highlight>
                <a:srgbClr val="FFFFFF"/>
              </a:highligh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9e470d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9e470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Here’s a quick overview of what we’ll cover today:</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Introduction</a:t>
            </a:r>
            <a:br>
              <a:rPr b="1" lang="en">
                <a:solidFill>
                  <a:schemeClr val="dk1"/>
                </a:solidFill>
              </a:rPr>
            </a:br>
            <a:r>
              <a:rPr lang="en">
                <a:solidFill>
                  <a:schemeClr val="dk1"/>
                </a:solidFill>
              </a:rPr>
              <a:t> We’ll start by framing the problem and explaining why understanding renewable energy transitions matters.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Data Description</a:t>
            </a:r>
            <a:br>
              <a:rPr b="1" lang="en">
                <a:solidFill>
                  <a:schemeClr val="dk1"/>
                </a:solidFill>
              </a:rPr>
            </a:br>
            <a:r>
              <a:rPr lang="en">
                <a:solidFill>
                  <a:schemeClr val="dk1"/>
                </a:solidFill>
              </a:rPr>
              <a:t> Next, we’ll describe the datasets we used — where they come from, what variables we focused on, and how we prepared the data through cleaning and merging.</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Analysis</a:t>
            </a:r>
            <a:br>
              <a:rPr b="1" lang="en">
                <a:solidFill>
                  <a:schemeClr val="dk1"/>
                </a:solidFill>
              </a:rPr>
            </a:br>
            <a:r>
              <a:rPr lang="en">
                <a:solidFill>
                  <a:schemeClr val="dk1"/>
                </a:solidFill>
              </a:rPr>
              <a:t> Then we’ll walk through our methodology and an overview of our analysis, </a:t>
            </a:r>
            <a:r>
              <a:rPr lang="en">
                <a:solidFill>
                  <a:schemeClr val="dk1"/>
                </a:solidFill>
              </a:rPr>
              <a:t>including</a:t>
            </a:r>
            <a:r>
              <a:rPr lang="en">
                <a:solidFill>
                  <a:schemeClr val="dk1"/>
                </a:solidFill>
              </a:rPr>
              <a:t> </a:t>
            </a:r>
            <a:r>
              <a:rPr lang="en">
                <a:solidFill>
                  <a:schemeClr val="dk1"/>
                </a:solidFill>
              </a:rPr>
              <a:t>initially observed relationships.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Results</a:t>
            </a:r>
            <a:br>
              <a:rPr b="1" lang="en">
                <a:solidFill>
                  <a:schemeClr val="dk1"/>
                </a:solidFill>
              </a:rPr>
            </a:br>
            <a:r>
              <a:rPr lang="en">
                <a:solidFill>
                  <a:schemeClr val="dk1"/>
                </a:solidFill>
              </a:rPr>
              <a:t> After that, we’ll summarize the key results from our analysis — what th</a:t>
            </a:r>
            <a:r>
              <a:rPr lang="en">
                <a:solidFill>
                  <a:schemeClr val="dk1"/>
                </a:solidFill>
              </a:rPr>
              <a:t>e</a:t>
            </a:r>
            <a:r>
              <a:rPr lang="en">
                <a:solidFill>
                  <a:schemeClr val="dk1"/>
                </a:solidFill>
              </a:rPr>
              <a:t> trends show, how strong the relationships are, </a:t>
            </a:r>
            <a:r>
              <a:rPr lang="en">
                <a:solidFill>
                  <a:schemeClr val="dk1"/>
                </a:solidFill>
              </a:rPr>
              <a:t>and any statistical patterns that emerged.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Discussion</a:t>
            </a:r>
            <a:br>
              <a:rPr b="1" lang="en">
                <a:solidFill>
                  <a:schemeClr val="dk1"/>
                </a:solidFill>
              </a:rPr>
            </a:br>
            <a:r>
              <a:rPr lang="en">
                <a:solidFill>
                  <a:schemeClr val="dk1"/>
                </a:solidFill>
              </a:rPr>
              <a:t> Finally, we’ll interpret what these results might mean, address limitations, and offer possible extensions for future analysis.</a:t>
            </a:r>
            <a:br>
              <a:rPr lang="en">
                <a:solidFill>
                  <a:schemeClr val="dk1"/>
                </a:solidFill>
              </a:rPr>
            </a:b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And with that structure in mind, let’s begin.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e0bf243ad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e0bf243a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fdaf4908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fdaf49081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Clr>
                <a:schemeClr val="dk1"/>
              </a:buClr>
              <a:buSzPts val="1100"/>
              <a:buFont typeface="Arial"/>
              <a:buNone/>
            </a:pPr>
            <a:r>
              <a:rPr lang="en" sz="1200">
                <a:solidFill>
                  <a:srgbClr val="222222"/>
                </a:solidFill>
                <a:highlight>
                  <a:srgbClr val="FFFFFF"/>
                </a:highlight>
              </a:rPr>
              <a:t>Carbon dioxide (CO₂) is a colourless and odourless gas that is a natural component of the air and part of the global carbon cycle. It plays an important role in photosynthesis, in which plants convert CO₂ into oxygen. At the same time, CO₂ is a significant greenhouse gas that contributes to global warming and climate change</a:t>
            </a:r>
            <a:endParaRPr sz="1200">
              <a:solidFill>
                <a:schemeClr val="dk1"/>
              </a:solidFill>
            </a:endParaRPr>
          </a:p>
          <a:p>
            <a:pPr indent="0" lvl="0" marL="0" rtl="0" algn="l">
              <a:spcBef>
                <a:spcPts val="6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9871134c8f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9871134c8f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a:solidFill>
                  <a:schemeClr val="dk1"/>
                </a:solidFill>
              </a:rPr>
              <a:t>Our project explores how renewable energy use relates to a country’s CO₂ emissions. </a:t>
            </a:r>
            <a:endParaRPr>
              <a:solidFill>
                <a:schemeClr val="dk1"/>
              </a:solidFill>
            </a:endParaRPr>
          </a:p>
          <a:p>
            <a:pPr indent="0" lvl="0" marL="0" rtl="0" algn="l">
              <a:lnSpc>
                <a:spcPct val="115000"/>
              </a:lnSpc>
              <a:spcBef>
                <a:spcPts val="600"/>
              </a:spcBef>
              <a:spcAft>
                <a:spcPts val="0"/>
              </a:spcAft>
              <a:buNone/>
            </a:pPr>
            <a:r>
              <a:rPr lang="en">
                <a:solidFill>
                  <a:schemeClr val="dk1"/>
                </a:solidFill>
              </a:rPr>
              <a:t>Climate change is a global issue, and understanding the factors that drive carbon emissions is essential for planning sustainable energy transitions.</a:t>
            </a:r>
            <a:br>
              <a:rPr lang="en">
                <a:solidFill>
                  <a:schemeClr val="dk1"/>
                </a:solidFill>
              </a:rPr>
            </a:br>
            <a:r>
              <a:rPr lang="en">
                <a:solidFill>
                  <a:schemeClr val="dk1"/>
                </a:solidFill>
              </a:rPr>
              <a:t> In this analysis, we focus specifically on the question: </a:t>
            </a:r>
            <a:r>
              <a:rPr i="1" lang="en">
                <a:solidFill>
                  <a:schemeClr val="dk1"/>
                </a:solidFill>
              </a:rPr>
              <a:t>Do higher shares of renewable energy actually help countries reduce their emissions per capita?</a:t>
            </a:r>
            <a:endParaRPr i="1">
              <a:solidFill>
                <a:schemeClr val="dk1"/>
              </a:solidFill>
            </a:endParaRPr>
          </a:p>
          <a:p>
            <a:pPr indent="0" lvl="0" marL="0" rtl="0" algn="l">
              <a:lnSpc>
                <a:spcPct val="115000"/>
              </a:lnSpc>
              <a:spcBef>
                <a:spcPts val="1200"/>
              </a:spcBef>
              <a:spcAft>
                <a:spcPts val="0"/>
              </a:spcAft>
              <a:buNone/>
            </a:pPr>
            <a:r>
              <a:rPr lang="en">
                <a:solidFill>
                  <a:schemeClr val="dk1"/>
                </a:solidFill>
              </a:rPr>
              <a:t>To answer this, we combined international renewable energy datasets, cleaned and merged them, and then used visual and statistical methods to study the relationship.</a:t>
            </a:r>
            <a:br>
              <a:rPr lang="en">
                <a:solidFill>
                  <a:schemeClr val="dk1"/>
                </a:solidFill>
              </a:rPr>
            </a:br>
            <a:r>
              <a:rPr lang="en">
                <a:solidFill>
                  <a:schemeClr val="dk1"/>
                </a:solidFill>
              </a:rPr>
              <a:t> Today, we’ll walk you through what we found, how we approached the analysis, and what it might mean for policymakers and future researchers.”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60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fc061dda1_3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fc061dda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Python Libraries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data processing, we relied heavily on `pandas` for cleaning, transforming, and merging the different datasets, and `numpy` for numerical operations, especially when creating log-transformed variables. We also used `pycountry` to standardize country names and ISO-3 codes, which was important because our data came from multiple international sources that didn’t always use consistent naming.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our visualizations, we used seaborn and matplotlib.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`Seaborn` was able to give us clean, statistical plots like scatterplots, histograms, and heatmaps, and `Matplotlib` allowed us to fine tune figure sizes and styling so the visuals would be consistent in the final report.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modeling side, we used `statsmodels` to run the fixed effects regressions and apply cluster robust standard errors. We also used some utilities from `scikit-learn`, mainly for generating lagged features and basic preprocessing.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since our team worked in a shared environment, we used Google Colab to run the notebooks and manage files in a cloud-based workspace.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Overall, these libraries gave us our complete workflow: from data cleaning, to visualization, to statistical modeling.</a:t>
            </a:r>
            <a:endParaRPr sz="1200">
              <a:solidFill>
                <a:srgbClr val="1F1F1F"/>
              </a:solidFill>
              <a:highlight>
                <a:srgbClr val="FFFFFF"/>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c6f9e470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c6f9e470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871134c8f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871134c8f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Sources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our project, we combined data from three major international sources to build a multi-country panel covering the years 2010 through 2024.</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First, the International Energy Agency, provided electricity generation data broken down by source—hydroelectric, wind, solar, nuclear, bioenergy, and fossil fuels. From this, we calculated each country’s renewable energy share, which is our main predictor variable.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Next, we used the Global Carbon Project, which reports CO₂ emissions per capita. This served as our main outcome variable, and it gave us consistent, comparable measurements across countries and years.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Finally, we pulled economic and demographic indicators from the World Bank Group’s World Development Indicators, including Gross Domestic Product or GDP, GDP per capita, and population data. These variables help us control for economic scale and structural differences between countries.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Together, these datasets allow us to build a dataset where each country-year has information on renewable energy, emissions, and economic factors.</a:t>
            </a:r>
            <a:endParaRPr sz="1200">
              <a:solidFill>
                <a:srgbClr val="1F1F1F"/>
              </a:solidFill>
              <a:highlight>
                <a:srgbClr val="FFFFFF"/>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fc061dda1_3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fc061dda1_3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Preparation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data preparation, we first cleaned each dataset separately and standardized all country identifiers using ISO-3 codes, which is the international standard for country codes. Once everything was standardized, we checked which countries were actually present in all three datasets — the IEA data, the Global Carbon Atlas data, and the World Bank Groups’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step was important because not every country appears consistently across all sources. We also removed entries that weren’t true individual countries, like grouped regions or territories with incomplete reporting.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After identifying the shared set of countries, we merged the datasets using the ISO-3 code and year. This produced a single data set where each row corresponds to one country-year with complete information on renewable energy, CO₂ emissions, and GDP.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there, we engineered the variables needed for analysis. We performed a log-transformation on CO₂ per capita and GDP per capita to reduce skew and make coefficients a little easier to interpret. We also created one-year and two-year lags of renewable share, since the impact of renewable adoption may not be immediate.</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After all these steps, we ended up with a data set of roughly 140 countries ranging from 2010 to 2024 that we could use in our full analysis.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9fac7b5157_5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9fac7b5157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fd01fb7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fd01fb7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Methodology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methodology is based on a comparative observational study using quantitative, correlational analysis. We constructed a multi-country panel dataset covering annual observations from 2010 to 2024. This structure allowed us to examine how renewable energy shares and CO₂ emissions change over time within countries, rather than relying only on cross-sectional comparisons.</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The key variables we focused on were CO₂ emissions per capita, renewable energy share, GDP per capita, and population, along with country and year identifiers. These variables allow us to control for country-specific characteristics and economic conditions while exploring the relationship between renewable adoption and emissions.</a:t>
            </a:r>
            <a:endParaRPr sz="1050">
              <a:solidFill>
                <a:schemeClr val="dk1"/>
              </a:solidFill>
              <a:highlight>
                <a:srgbClr val="FFFFFF"/>
              </a:highligh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c6f9e470d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c6f9e470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Here you can see a timeline of our analysis process…starting off with the initial analysis of our imported data,  the steps taken to clean/prep/merge the data, and the EDA, statistical testing, and </a:t>
            </a:r>
            <a:r>
              <a:rPr lang="en"/>
              <a:t>expansions that lead us to the results we are sharing today.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af1fe50029_4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af1fe50029_4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solidFill>
                  <a:schemeClr val="dk1"/>
                </a:solidFill>
                <a:highlight>
                  <a:srgbClr val="FFFFFF"/>
                </a:highlight>
              </a:rPr>
              <a:t>We began our exploratory data analysis (EDA) by comparing  relationships amongst the 3 variables of interest –  CO₂ emissions, renewable energy shares, and </a:t>
            </a:r>
            <a:r>
              <a:rPr lang="en" sz="1000">
                <a:solidFill>
                  <a:schemeClr val="dk1"/>
                </a:solidFill>
                <a:highlight>
                  <a:srgbClr val="FFFFFF"/>
                </a:highlight>
              </a:rPr>
              <a:t>economic growth/</a:t>
            </a:r>
            <a:r>
              <a:rPr lang="en" sz="1000">
                <a:solidFill>
                  <a:schemeClr val="dk1"/>
                </a:solidFill>
                <a:highlight>
                  <a:srgbClr val="FFFFFF"/>
                </a:highlight>
              </a:rPr>
              <a:t>GDP per capita .</a:t>
            </a:r>
            <a:endParaRPr sz="1000">
              <a:solidFill>
                <a:schemeClr val="dk1"/>
              </a:solidFill>
              <a:highlight>
                <a:srgbClr val="FFFFFF"/>
              </a:highlight>
            </a:endParaRPr>
          </a:p>
          <a:p>
            <a:pPr indent="0" lvl="0" marL="0" rtl="0" algn="l">
              <a:lnSpc>
                <a:spcPct val="115000"/>
              </a:lnSpc>
              <a:spcBef>
                <a:spcPts val="1200"/>
              </a:spcBef>
              <a:spcAft>
                <a:spcPts val="0"/>
              </a:spcAft>
              <a:buNone/>
            </a:pPr>
            <a:r>
              <a:rPr lang="en" sz="1000">
                <a:solidFill>
                  <a:schemeClr val="dk1"/>
                </a:solidFill>
                <a:highlight>
                  <a:srgbClr val="FFFFFF"/>
                </a:highlight>
              </a:rPr>
              <a:t>We found the ten countries with the highest and lowest renewable electricity shares within our dataset… all color coded based off  the key to the right,</a:t>
            </a:r>
            <a:endParaRPr sz="1000">
              <a:solidFill>
                <a:schemeClr val="dk1"/>
              </a:solidFill>
              <a:highlight>
                <a:srgbClr val="FFFFFF"/>
              </a:highlight>
            </a:endParaRPr>
          </a:p>
          <a:p>
            <a:pPr indent="0" lvl="0" marL="0" rtl="0" algn="l">
              <a:lnSpc>
                <a:spcPct val="115000"/>
              </a:lnSpc>
              <a:spcBef>
                <a:spcPts val="1200"/>
              </a:spcBef>
              <a:spcAft>
                <a:spcPts val="0"/>
              </a:spcAft>
              <a:buNone/>
            </a:pPr>
            <a:r>
              <a:rPr b="1" lang="en" sz="1200">
                <a:solidFill>
                  <a:srgbClr val="1F1F1F"/>
                </a:solidFill>
                <a:highlight>
                  <a:srgbClr val="FFFFFF"/>
                </a:highlight>
              </a:rPr>
              <a:t>Visual 1 on the left–  shows how the relationship between CO₂ emissions and </a:t>
            </a:r>
            <a:r>
              <a:rPr b="1" lang="en" sz="1200">
                <a:solidFill>
                  <a:srgbClr val="1F1F1F"/>
                </a:solidFill>
                <a:highlight>
                  <a:srgbClr val="FFFFFF"/>
                </a:highlight>
              </a:rPr>
              <a:t>renewable energy shares </a:t>
            </a:r>
            <a:r>
              <a:rPr b="1" lang="en" sz="1200">
                <a:solidFill>
                  <a:srgbClr val="1F1F1F"/>
                </a:solidFill>
                <a:highlight>
                  <a:srgbClr val="FFFFFF"/>
                </a:highlight>
              </a:rPr>
              <a:t>per capita changed over time for these 20 countries. You can see many data points of the same colors, which represent that </a:t>
            </a:r>
            <a:r>
              <a:rPr b="1" lang="en" sz="1200">
                <a:solidFill>
                  <a:srgbClr val="1F1F1F"/>
                </a:solidFill>
                <a:highlight>
                  <a:srgbClr val="FFFFFF"/>
                </a:highlight>
              </a:rPr>
              <a:t>countries</a:t>
            </a:r>
            <a:r>
              <a:rPr b="1" lang="en" sz="1200">
                <a:solidFill>
                  <a:srgbClr val="1F1F1F"/>
                </a:solidFill>
                <a:highlight>
                  <a:srgbClr val="FFFFFF"/>
                </a:highlight>
              </a:rPr>
              <a:t> data point for each year in 2010-2024?</a:t>
            </a:r>
            <a:endParaRPr b="1" sz="1200">
              <a:solidFill>
                <a:srgbClr val="1F1F1F"/>
              </a:solidFill>
              <a:highlight>
                <a:srgbClr val="FFFFFF"/>
              </a:highlight>
            </a:endParaRPr>
          </a:p>
          <a:p>
            <a:pPr indent="0" lvl="0" marL="0" rtl="0" algn="l">
              <a:lnSpc>
                <a:spcPct val="115000"/>
              </a:lnSpc>
              <a:spcBef>
                <a:spcPts val="1200"/>
              </a:spcBef>
              <a:spcAft>
                <a:spcPts val="0"/>
              </a:spcAft>
              <a:buNone/>
            </a:pPr>
            <a:r>
              <a:rPr b="1" lang="en" sz="1200">
                <a:solidFill>
                  <a:srgbClr val="1F1F1F"/>
                </a:solidFill>
                <a:highlight>
                  <a:srgbClr val="FFFFFF"/>
                </a:highlight>
              </a:rPr>
              <a:t>Visual 2 on the right displays – The relationship between CO2 emissions and economic growth (GDP) for these same 20 countries across the same timespan.</a:t>
            </a:r>
            <a:endParaRPr b="1" sz="1200">
              <a:solidFill>
                <a:srgbClr val="1F1F1F"/>
              </a:solidFill>
              <a:highlight>
                <a:srgbClr val="FFFFFF"/>
              </a:highlight>
            </a:endParaRPr>
          </a:p>
          <a:p>
            <a:pPr indent="0" lvl="0" marL="0" rtl="0" algn="l">
              <a:lnSpc>
                <a:spcPct val="115000"/>
              </a:lnSpc>
              <a:spcBef>
                <a:spcPts val="1200"/>
              </a:spcBef>
              <a:spcAft>
                <a:spcPts val="0"/>
              </a:spcAft>
              <a:buNone/>
            </a:pPr>
            <a:r>
              <a:rPr lang="en" sz="1000">
                <a:solidFill>
                  <a:schemeClr val="dk1"/>
                </a:solidFill>
                <a:highlight>
                  <a:srgbClr val="FFFFFF"/>
                </a:highlight>
              </a:rPr>
              <a:t>Comparing renewable energy share and CO₂ emissions per capita suggests an overall negative relationship between the two – meaning that countries with more renewable electricity tend to have lower CO₂ emissions. This relationship, however, is more complex with the data showing significant variation: countries with similar renewable energy shares and economic </a:t>
            </a:r>
            <a:r>
              <a:rPr lang="en" sz="1000">
                <a:solidFill>
                  <a:schemeClr val="dk1"/>
                </a:solidFill>
                <a:highlight>
                  <a:srgbClr val="FFFFFF"/>
                </a:highlight>
              </a:rPr>
              <a:t>output…</a:t>
            </a:r>
            <a:r>
              <a:rPr lang="en" sz="1000">
                <a:solidFill>
                  <a:schemeClr val="dk1"/>
                </a:solidFill>
                <a:highlight>
                  <a:srgbClr val="FFFFFF"/>
                </a:highlight>
              </a:rPr>
              <a:t> often show different CO₂ emissions per capita. This finding sparked deeper analysis which will be explained </a:t>
            </a:r>
            <a:r>
              <a:rPr lang="en" sz="1000">
                <a:solidFill>
                  <a:schemeClr val="dk1"/>
                </a:solidFill>
                <a:highlight>
                  <a:srgbClr val="FFFFFF"/>
                </a:highlight>
              </a:rPr>
              <a:t>further</a:t>
            </a:r>
            <a:r>
              <a:rPr lang="en" sz="1000">
                <a:solidFill>
                  <a:schemeClr val="dk1"/>
                </a:solidFill>
                <a:highlight>
                  <a:srgbClr val="FFFFFF"/>
                </a:highlight>
              </a:rPr>
              <a:t> in the expansions portion of this presentation. </a:t>
            </a:r>
            <a:endParaRPr b="1"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f1fe50029_0_2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f1fe50029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f1fe50029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f1fe50029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fc061dda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fc061dda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fc061dda1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fc061dda1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afc061dda1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afc061dda1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fc061dda1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fc061dda1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af1fe5002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af1fe5002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57200" rtl="0" algn="l">
              <a:lnSpc>
                <a:spcPct val="115000"/>
              </a:lnSpc>
              <a:spcBef>
                <a:spcPts val="400"/>
              </a:spcBef>
              <a:spcAft>
                <a:spcPts val="0"/>
              </a:spcAft>
              <a:buNone/>
            </a:pPr>
            <a:r>
              <a:rPr lang="en" sz="1000">
                <a:solidFill>
                  <a:srgbClr val="1F1F1F"/>
                </a:solidFill>
                <a:highlight>
                  <a:srgbClr val="FFFFFF"/>
                </a:highlight>
              </a:rPr>
              <a:t>The graph on the screen displays the relationship between GDP per capita and CO₂ emissions per capita in the most recent year of our data; </a:t>
            </a:r>
            <a:endParaRPr sz="1000">
              <a:solidFill>
                <a:srgbClr val="1F1F1F"/>
              </a:solidFill>
              <a:highlight>
                <a:srgbClr val="FFFFFF"/>
              </a:highlight>
            </a:endParaRPr>
          </a:p>
          <a:p>
            <a:pPr indent="0" lvl="0" marL="0" marR="457200" rtl="0" algn="l">
              <a:lnSpc>
                <a:spcPct val="115000"/>
              </a:lnSpc>
              <a:spcBef>
                <a:spcPts val="400"/>
              </a:spcBef>
              <a:spcAft>
                <a:spcPts val="0"/>
              </a:spcAft>
              <a:buNone/>
            </a:pPr>
            <a:r>
              <a:rPr lang="en" sz="1000">
                <a:solidFill>
                  <a:srgbClr val="1F1F1F"/>
                </a:solidFill>
                <a:highlight>
                  <a:srgbClr val="FFFFFF"/>
                </a:highlight>
              </a:rPr>
              <a:t>each point represents  a country. And as you can see…Countries with a higher renewable share (lighter/larger points) tend to have lower emissions, even at similar GDP levels to other economies. The black trend line helps us see that at acertain economic output level, carbon dioxide emissions do not always keep rising and can even decline.</a:t>
            </a:r>
            <a:endParaRPr sz="1000">
              <a:solidFill>
                <a:srgbClr val="1F1F1F"/>
              </a:solidFill>
              <a:highlight>
                <a:srgbClr val="FFFFFF"/>
              </a:highlight>
            </a:endParaRPr>
          </a:p>
          <a:p>
            <a:pPr indent="0" lvl="0" marL="0" marR="457200" rtl="0" algn="l">
              <a:lnSpc>
                <a:spcPct val="115000"/>
              </a:lnSpc>
              <a:spcBef>
                <a:spcPts val="400"/>
              </a:spcBef>
              <a:spcAft>
                <a:spcPts val="0"/>
              </a:spcAft>
              <a:buNone/>
            </a:pPr>
            <a:r>
              <a:rPr lang="en" sz="1000">
                <a:solidFill>
                  <a:schemeClr val="dk1"/>
                </a:solidFill>
                <a:highlight>
                  <a:srgbClr val="FFFFFF"/>
                </a:highlight>
              </a:rPr>
              <a:t>This suggests that, although</a:t>
            </a:r>
            <a:r>
              <a:rPr lang="en" sz="1000">
                <a:solidFill>
                  <a:srgbClr val="1F1F1F"/>
                </a:solidFill>
                <a:highlight>
                  <a:srgbClr val="FFFFFF"/>
                </a:highlight>
              </a:rPr>
              <a:t> CO₂ emissions are reported to increase as countries become wealthier, they do not have to. </a:t>
            </a:r>
            <a:endParaRPr sz="1000">
              <a:solidFill>
                <a:srgbClr val="1F1F1F"/>
              </a:solidFill>
              <a:highlight>
                <a:srgbClr val="FFFFFF"/>
              </a:highlight>
            </a:endParaRPr>
          </a:p>
          <a:p>
            <a:pPr indent="0" lvl="0" marL="0" marR="457200" rtl="0" algn="l">
              <a:lnSpc>
                <a:spcPct val="115000"/>
              </a:lnSpc>
              <a:spcBef>
                <a:spcPts val="400"/>
              </a:spcBef>
              <a:spcAft>
                <a:spcPts val="0"/>
              </a:spcAft>
              <a:buClr>
                <a:schemeClr val="dk1"/>
              </a:buClr>
              <a:buSzPts val="1100"/>
              <a:buFont typeface="Arial"/>
              <a:buNone/>
            </a:pPr>
            <a:r>
              <a:rPr lang="en" sz="1000">
                <a:solidFill>
                  <a:srgbClr val="1F1F1F"/>
                </a:solidFill>
                <a:highlight>
                  <a:srgbClr val="FFFFFF"/>
                </a:highlight>
              </a:rPr>
              <a:t>If renewable energy adoption is high enough, CO₂ emissions per capita can level off or even go down while GDP continues to increase. </a:t>
            </a:r>
            <a:endParaRPr sz="1000">
              <a:solidFill>
                <a:srgbClr val="1F1F1F"/>
              </a:solidFill>
              <a:highlight>
                <a:srgbClr val="FFFFFF"/>
              </a:highlight>
            </a:endParaRPr>
          </a:p>
          <a:p>
            <a:pPr indent="0" lvl="0" marL="0" rtl="0" algn="l">
              <a:lnSpc>
                <a:spcPct val="115000"/>
              </a:lnSpc>
              <a:spcBef>
                <a:spcPts val="1200"/>
              </a:spcBef>
              <a:spcAft>
                <a:spcPts val="0"/>
              </a:spcAft>
              <a:buNone/>
            </a:pPr>
            <a:r>
              <a:t/>
            </a:r>
            <a:endParaRPr sz="1200">
              <a:solidFill>
                <a:srgbClr val="1F1F1F"/>
              </a:solidFill>
              <a:highlight>
                <a:srgbClr val="FFFFFF"/>
              </a:highlight>
            </a:endParaRPr>
          </a:p>
          <a:p>
            <a:pPr indent="0" lvl="0" marL="0" rtl="0" algn="l">
              <a:spcBef>
                <a:spcPts val="1200"/>
              </a:spcBef>
              <a:spcAft>
                <a:spcPts val="0"/>
              </a:spcAft>
              <a:buNone/>
            </a:pPr>
            <a:r>
              <a:t/>
            </a:r>
            <a:endParaRPr sz="1200">
              <a:solidFill>
                <a:srgbClr val="1F1F1F"/>
              </a:solidFill>
              <a:highlight>
                <a:srgbClr val="FFFFFF"/>
              </a:highligh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f1fe50029_0_3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f1fe5002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f1fe5002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f1fe5002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57200" rtl="0" algn="l">
              <a:lnSpc>
                <a:spcPct val="115000"/>
              </a:lnSpc>
              <a:spcBef>
                <a:spcPts val="400"/>
              </a:spcBef>
              <a:spcAft>
                <a:spcPts val="0"/>
              </a:spcAft>
              <a:buClr>
                <a:schemeClr val="dk1"/>
              </a:buClr>
              <a:buSzPts val="1100"/>
              <a:buFont typeface="Arial"/>
              <a:buNone/>
            </a:pPr>
            <a:r>
              <a:rPr lang="en" sz="1000">
                <a:solidFill>
                  <a:schemeClr val="dk1"/>
                </a:solidFill>
                <a:highlight>
                  <a:srgbClr val="FFFFFF"/>
                </a:highlight>
              </a:rPr>
              <a:t>We </a:t>
            </a:r>
            <a:r>
              <a:rPr lang="en" sz="1000">
                <a:solidFill>
                  <a:schemeClr val="dk1"/>
                </a:solidFill>
                <a:highlight>
                  <a:srgbClr val="FFFFFF"/>
                </a:highlight>
              </a:rPr>
              <a:t>set out to evaluate whether increasing the share of renewable energy in national electricity generation is meaningfully linked to reductions in carbon dioxide (CO₂) emissions. </a:t>
            </a:r>
            <a:endParaRPr sz="1000">
              <a:solidFill>
                <a:schemeClr val="dk1"/>
              </a:solidFill>
              <a:highlight>
                <a:srgbClr val="FFFFFF"/>
              </a:highlight>
            </a:endParaRPr>
          </a:p>
          <a:p>
            <a:pPr indent="0" lvl="0" marL="0" marR="457200" rtl="0" algn="l">
              <a:lnSpc>
                <a:spcPct val="115000"/>
              </a:lnSpc>
              <a:spcBef>
                <a:spcPts val="400"/>
              </a:spcBef>
              <a:spcAft>
                <a:spcPts val="0"/>
              </a:spcAft>
              <a:buClr>
                <a:schemeClr val="dk1"/>
              </a:buClr>
              <a:buSzPts val="1100"/>
              <a:buFont typeface="Arial"/>
              <a:buNone/>
            </a:pPr>
            <a:r>
              <a:rPr lang="en" sz="1000">
                <a:solidFill>
                  <a:schemeClr val="dk1"/>
                </a:solidFill>
                <a:highlight>
                  <a:srgbClr val="FFFFFF"/>
                </a:highlight>
              </a:rPr>
              <a:t>our analysis consistently showed that countries with higher renewable electricity shares have lower CO₂ emissions per person.  </a:t>
            </a:r>
            <a:endParaRPr sz="1000">
              <a:solidFill>
                <a:schemeClr val="dk1"/>
              </a:solidFill>
              <a:highlight>
                <a:srgbClr val="FFFFFF"/>
              </a:highlight>
            </a:endParaRPr>
          </a:p>
          <a:p>
            <a:pPr indent="0" lvl="0" marL="0" marR="457200" rtl="0" algn="l">
              <a:lnSpc>
                <a:spcPct val="115000"/>
              </a:lnSpc>
              <a:spcBef>
                <a:spcPts val="400"/>
              </a:spcBef>
              <a:spcAft>
                <a:spcPts val="0"/>
              </a:spcAft>
              <a:buClr>
                <a:schemeClr val="dk1"/>
              </a:buClr>
              <a:buSzPts val="1100"/>
              <a:buFont typeface="Arial"/>
              <a:buNone/>
            </a:pPr>
            <a:r>
              <a:rPr lang="en" sz="1000">
                <a:solidFill>
                  <a:schemeClr val="dk1"/>
                </a:solidFill>
                <a:highlight>
                  <a:srgbClr val="FFFFFF"/>
                </a:highlight>
              </a:rPr>
              <a:t>Importantly, these reductions are observed to persist even when accounting for economic expansion, demonstrating that cleaner energy systems can indeed support climate progress without halting economic growth.  </a:t>
            </a:r>
            <a:endParaRPr sz="1000">
              <a:solidFill>
                <a:schemeClr val="dk1"/>
              </a:solidFill>
              <a:highlight>
                <a:srgbClr val="FFFFFF"/>
              </a:highlight>
            </a:endParaRPr>
          </a:p>
          <a:p>
            <a:pPr indent="0" lvl="0" marL="0" marR="457200" rtl="0" algn="l">
              <a:lnSpc>
                <a:spcPct val="115000"/>
              </a:lnSpc>
              <a:spcBef>
                <a:spcPts val="400"/>
              </a:spcBef>
              <a:spcAft>
                <a:spcPts val="0"/>
              </a:spcAft>
              <a:buNone/>
            </a:pPr>
            <a:r>
              <a:rPr lang="en" sz="1000">
                <a:solidFill>
                  <a:schemeClr val="dk1"/>
                </a:solidFill>
                <a:highlight>
                  <a:srgbClr val="FFFFFF"/>
                </a:highlight>
              </a:rPr>
              <a:t>The results also suggest that the benefits of renewable shares are not limited to the year they are adopted. Evidence from our lag analysis indicates that emissions continue to decline in the years following increases in renewable electricity production. </a:t>
            </a:r>
            <a:endParaRPr sz="1000">
              <a:solidFill>
                <a:schemeClr val="dk1"/>
              </a:solidFill>
              <a:highlight>
                <a:srgbClr val="FFFFFF"/>
              </a:highlight>
            </a:endParaRPr>
          </a:p>
          <a:p>
            <a:pPr indent="0" lvl="0" marL="0" marR="457200" rtl="0" algn="l">
              <a:lnSpc>
                <a:spcPct val="115000"/>
              </a:lnSpc>
              <a:spcBef>
                <a:spcPts val="400"/>
              </a:spcBef>
              <a:spcAft>
                <a:spcPts val="0"/>
              </a:spcAft>
              <a:buNone/>
            </a:pPr>
            <a:r>
              <a:rPr lang="en" sz="1000">
                <a:solidFill>
                  <a:schemeClr val="dk1"/>
                </a:solidFill>
                <a:highlight>
                  <a:srgbClr val="FFFFFF"/>
                </a:highlight>
              </a:rPr>
              <a:t>Finally, although GPD per capita remained positively associated with carbon dioxide emissions overall, our analysis support a negative and statistically significant relationship between renewable energy adoption and CO₂ emissions per capita – </a:t>
            </a:r>
            <a:endParaRPr sz="1000">
              <a:solidFill>
                <a:schemeClr val="dk1"/>
              </a:solidFill>
              <a:highlight>
                <a:srgbClr val="FFFFFF"/>
              </a:highlight>
            </a:endParaRPr>
          </a:p>
          <a:p>
            <a:pPr indent="0" lvl="0" marL="0" marR="457200" rtl="0" algn="l">
              <a:lnSpc>
                <a:spcPct val="115000"/>
              </a:lnSpc>
              <a:spcBef>
                <a:spcPts val="400"/>
              </a:spcBef>
              <a:spcAft>
                <a:spcPts val="0"/>
              </a:spcAft>
              <a:buClr>
                <a:schemeClr val="dk1"/>
              </a:buClr>
              <a:buSzPts val="1100"/>
              <a:buFont typeface="Arial"/>
              <a:buNone/>
            </a:pPr>
            <a:r>
              <a:rPr lang="en" sz="1000">
                <a:solidFill>
                  <a:schemeClr val="dk1"/>
                </a:solidFill>
                <a:highlight>
                  <a:srgbClr val="FFFFFF"/>
                </a:highlight>
              </a:rPr>
              <a:t>This supports the idea that renewable energy helps weaken the historic link between a population's growth and pollution (carbon emissions) … a key observation made that can support advocating for more aggressive transitions towards sustainable development, such as increasing renewable energy shares in electricity.  </a:t>
            </a:r>
            <a:endParaRPr sz="1000">
              <a:solidFill>
                <a:schemeClr val="dk1"/>
              </a:solidFill>
              <a:highlight>
                <a:srgbClr val="FFFFFF"/>
              </a:highlight>
            </a:endParaRPr>
          </a:p>
          <a:p>
            <a:pPr indent="0" lvl="0" marL="0" rtl="0" algn="l">
              <a:lnSpc>
                <a:spcPct val="115000"/>
              </a:lnSpc>
              <a:spcBef>
                <a:spcPts val="0"/>
              </a:spcBef>
              <a:spcAft>
                <a:spcPts val="0"/>
              </a:spcAft>
              <a:buNone/>
            </a:pPr>
            <a:r>
              <a:t/>
            </a:r>
            <a:endParaRPr sz="1200">
              <a:solidFill>
                <a:schemeClr val="dk1"/>
              </a:solidFill>
            </a:endParaRPr>
          </a:p>
          <a:p>
            <a:pPr indent="0" lvl="0" marL="0" rtl="0" algn="l">
              <a:spcBef>
                <a:spcPts val="120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a:p>
            <a:pPr indent="0" lvl="0" marL="0" rtl="0" algn="l">
              <a:spcBef>
                <a:spcPts val="0"/>
              </a:spcBef>
              <a:spcAft>
                <a:spcPts val="0"/>
              </a:spcAft>
              <a:buNone/>
            </a:pPr>
            <a:r>
              <a:t/>
            </a:r>
            <a:endParaRPr sz="1050">
              <a:solidFill>
                <a:schemeClr val="dk1"/>
              </a:solidFill>
              <a:highlight>
                <a:srgbClr val="FFFFFF"/>
              </a:high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fdaf49081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fdaf4908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a:t>Hello everyone, and thank you for being here.</a:t>
            </a:r>
            <a:endParaRPr/>
          </a:p>
          <a:p>
            <a:pPr indent="0" lvl="0" marL="0" rtl="0" algn="l">
              <a:lnSpc>
                <a:spcPct val="115000"/>
              </a:lnSpc>
              <a:spcBef>
                <a:spcPts val="600"/>
              </a:spcBef>
              <a:spcAft>
                <a:spcPts val="0"/>
              </a:spcAft>
              <a:buNone/>
            </a:pPr>
            <a:r>
              <a:rPr lang="en"/>
              <a:t>In this presentation we will be sharing our final group project for data 5100, briefly titled “Carbon Emission Analysis”</a:t>
            </a:r>
            <a:endParaRPr/>
          </a:p>
          <a:p>
            <a:pPr indent="0" lvl="0" marL="0" rtl="0" algn="l">
              <a:lnSpc>
                <a:spcPct val="115000"/>
              </a:lnSpc>
              <a:spcBef>
                <a:spcPts val="600"/>
              </a:spcBef>
              <a:spcAft>
                <a:spcPts val="0"/>
              </a:spcAft>
              <a:buNone/>
            </a:pPr>
            <a:r>
              <a:t/>
            </a:r>
            <a:endParaRPr/>
          </a:p>
          <a:p>
            <a:pPr indent="0" lvl="0" marL="0" rtl="0" algn="l">
              <a:spcBef>
                <a:spcPts val="600"/>
              </a:spcBef>
              <a:spcAft>
                <a:spcPts val="0"/>
              </a:spcAft>
              <a:buNone/>
            </a:pPr>
            <a:r>
              <a:t/>
            </a:r>
            <a:endParaRPr sz="1000">
              <a:solidFill>
                <a:schemeClr val="dk1"/>
              </a:solidFill>
              <a:highlight>
                <a:srgbClr val="FFFFFF"/>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598100" y="2121974"/>
            <a:ext cx="8222100" cy="4920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a:t>Carbon Emission Analysis</a:t>
            </a:r>
            <a:endParaRPr/>
          </a:p>
          <a:p>
            <a:pPr indent="0" lvl="0" marL="0" rtl="0" algn="l">
              <a:lnSpc>
                <a:spcPct val="115000"/>
              </a:lnSpc>
              <a:spcBef>
                <a:spcPts val="0"/>
              </a:spcBef>
              <a:spcAft>
                <a:spcPts val="0"/>
              </a:spcAft>
              <a:buNone/>
            </a:pPr>
            <a:r>
              <a:rPr lang="en" sz="1800">
                <a:solidFill>
                  <a:schemeClr val="lt2"/>
                </a:solidFill>
              </a:rPr>
              <a:t>DATA 5100, Final Project</a:t>
            </a:r>
            <a:endParaRPr sz="1800">
              <a:solidFill>
                <a:schemeClr val="lt2"/>
              </a:solidFill>
            </a:endParaRPr>
          </a:p>
        </p:txBody>
      </p:sp>
      <p:sp>
        <p:nvSpPr>
          <p:cNvPr id="86" name="Google Shape;86;p13"/>
          <p:cNvSpPr txBox="1"/>
          <p:nvPr>
            <p:ph idx="1" type="subTitle"/>
          </p:nvPr>
        </p:nvSpPr>
        <p:spPr>
          <a:xfrm>
            <a:off x="598100" y="3694569"/>
            <a:ext cx="8222100" cy="8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t>By: </a:t>
            </a:r>
            <a:r>
              <a:rPr b="1" lang="en" sz="1800"/>
              <a:t> </a:t>
            </a:r>
            <a:r>
              <a:rPr lang="en" sz="1800"/>
              <a:t>Alyssa, Ben, Travis</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2" name="Google Shape;92;p14"/>
          <p:cNvSpPr/>
          <p:nvPr/>
        </p:nvSpPr>
        <p:spPr>
          <a:xfrm>
            <a:off x="432350" y="1304875"/>
            <a:ext cx="2469300" cy="607800"/>
          </a:xfrm>
          <a:prstGeom prst="homePlate">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93" name="Google Shape;93;p14"/>
          <p:cNvSpPr txBox="1"/>
          <p:nvPr>
            <p:ph idx="4294967295" type="body"/>
          </p:nvPr>
        </p:nvSpPr>
        <p:spPr>
          <a:xfrm>
            <a:off x="326475" y="145157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Introduction</a:t>
            </a:r>
            <a:endParaRPr b="1" sz="1600">
              <a:solidFill>
                <a:schemeClr val="lt1"/>
              </a:solidFill>
            </a:endParaRPr>
          </a:p>
        </p:txBody>
      </p:sp>
      <p:sp>
        <p:nvSpPr>
          <p:cNvPr id="94" name="Google Shape;94;p14"/>
          <p:cNvSpPr txBox="1"/>
          <p:nvPr>
            <p:ph idx="4294967295" type="body"/>
          </p:nvPr>
        </p:nvSpPr>
        <p:spPr>
          <a:xfrm>
            <a:off x="311700" y="1997225"/>
            <a:ext cx="2471700" cy="125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Domain Problem </a:t>
            </a:r>
            <a:endParaRPr sz="1400"/>
          </a:p>
          <a:p>
            <a:pPr indent="-317500" lvl="0" marL="457200" rtl="0" algn="l">
              <a:spcBef>
                <a:spcPts val="0"/>
              </a:spcBef>
              <a:spcAft>
                <a:spcPts val="0"/>
              </a:spcAft>
              <a:buSzPts val="1400"/>
              <a:buChar char="●"/>
            </a:pPr>
            <a:r>
              <a:rPr lang="en" sz="1400"/>
              <a:t>Libraries Used</a:t>
            </a:r>
            <a:endParaRPr sz="1400"/>
          </a:p>
        </p:txBody>
      </p:sp>
      <p:sp>
        <p:nvSpPr>
          <p:cNvPr id="95" name="Google Shape;95;p14"/>
          <p:cNvSpPr/>
          <p:nvPr/>
        </p:nvSpPr>
        <p:spPr>
          <a:xfrm>
            <a:off x="3044777"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96" name="Google Shape;96;p14"/>
          <p:cNvSpPr txBox="1"/>
          <p:nvPr>
            <p:ph idx="4294967295" type="body"/>
          </p:nvPr>
        </p:nvSpPr>
        <p:spPr>
          <a:xfrm>
            <a:off x="3270525" y="1304874"/>
            <a:ext cx="2309100" cy="6078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Data Description</a:t>
            </a:r>
            <a:endParaRPr b="1" sz="1600">
              <a:solidFill>
                <a:schemeClr val="lt1"/>
              </a:solidFill>
            </a:endParaRPr>
          </a:p>
        </p:txBody>
      </p:sp>
      <p:sp>
        <p:nvSpPr>
          <p:cNvPr id="97" name="Google Shape;97;p14"/>
          <p:cNvSpPr txBox="1"/>
          <p:nvPr>
            <p:ph idx="4294967295" type="body"/>
          </p:nvPr>
        </p:nvSpPr>
        <p:spPr>
          <a:xfrm>
            <a:off x="3270523" y="1997225"/>
            <a:ext cx="2795700" cy="1255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Data Sources</a:t>
            </a:r>
            <a:endParaRPr sz="1400"/>
          </a:p>
          <a:p>
            <a:pPr indent="-317500" lvl="0" marL="457200" rtl="0" algn="l">
              <a:spcBef>
                <a:spcPts val="0"/>
              </a:spcBef>
              <a:spcAft>
                <a:spcPts val="0"/>
              </a:spcAft>
              <a:buSzPts val="1400"/>
              <a:buChar char="●"/>
            </a:pPr>
            <a:r>
              <a:rPr lang="en" sz="1400"/>
              <a:t>Collection + Preparation</a:t>
            </a:r>
            <a:endParaRPr sz="1400"/>
          </a:p>
        </p:txBody>
      </p:sp>
      <p:sp>
        <p:nvSpPr>
          <p:cNvPr id="98" name="Google Shape;98;p14"/>
          <p:cNvSpPr/>
          <p:nvPr/>
        </p:nvSpPr>
        <p:spPr>
          <a:xfrm>
            <a:off x="4678777" y="318672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99" name="Google Shape;99;p14"/>
          <p:cNvSpPr txBox="1"/>
          <p:nvPr>
            <p:ph idx="4294967295" type="body"/>
          </p:nvPr>
        </p:nvSpPr>
        <p:spPr>
          <a:xfrm>
            <a:off x="4996758" y="3333426"/>
            <a:ext cx="2257200" cy="3144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n" sz="1600">
                <a:solidFill>
                  <a:schemeClr val="lt1"/>
                </a:solidFill>
              </a:rPr>
              <a:t>       Conclusion</a:t>
            </a:r>
            <a:endParaRPr b="1" sz="1600">
              <a:solidFill>
                <a:schemeClr val="lt1"/>
              </a:solidFill>
            </a:endParaRPr>
          </a:p>
        </p:txBody>
      </p:sp>
      <p:sp>
        <p:nvSpPr>
          <p:cNvPr id="100" name="Google Shape;100;p14"/>
          <p:cNvSpPr txBox="1"/>
          <p:nvPr>
            <p:ph idx="4294967295" type="body"/>
          </p:nvPr>
        </p:nvSpPr>
        <p:spPr>
          <a:xfrm>
            <a:off x="4857350" y="3868600"/>
            <a:ext cx="3016800" cy="811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Key Takeaways</a:t>
            </a:r>
            <a:endParaRPr sz="1400"/>
          </a:p>
        </p:txBody>
      </p:sp>
      <p:sp>
        <p:nvSpPr>
          <p:cNvPr id="101" name="Google Shape;101;p14"/>
          <p:cNvSpPr/>
          <p:nvPr/>
        </p:nvSpPr>
        <p:spPr>
          <a:xfrm>
            <a:off x="5948502" y="130487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02" name="Google Shape;102;p14"/>
          <p:cNvSpPr txBox="1"/>
          <p:nvPr>
            <p:ph idx="4294967295" type="body"/>
          </p:nvPr>
        </p:nvSpPr>
        <p:spPr>
          <a:xfrm>
            <a:off x="6127083" y="145157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Analysis</a:t>
            </a:r>
            <a:endParaRPr b="1" sz="1600">
              <a:solidFill>
                <a:schemeClr val="lt1"/>
              </a:solidFill>
            </a:endParaRPr>
          </a:p>
        </p:txBody>
      </p:sp>
      <p:sp>
        <p:nvSpPr>
          <p:cNvPr id="103" name="Google Shape;103;p14"/>
          <p:cNvSpPr txBox="1"/>
          <p:nvPr>
            <p:ph idx="4294967295" type="body"/>
          </p:nvPr>
        </p:nvSpPr>
        <p:spPr>
          <a:xfrm>
            <a:off x="6066100" y="1997225"/>
            <a:ext cx="2654700" cy="11895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Methodology </a:t>
            </a:r>
            <a:endParaRPr sz="1400"/>
          </a:p>
          <a:p>
            <a:pPr indent="-317500" lvl="0" marL="457200" rtl="0" algn="l">
              <a:spcBef>
                <a:spcPts val="0"/>
              </a:spcBef>
              <a:spcAft>
                <a:spcPts val="0"/>
              </a:spcAft>
              <a:buSzPts val="1400"/>
              <a:buChar char="●"/>
            </a:pPr>
            <a:r>
              <a:rPr lang="en" sz="1400"/>
              <a:t>Timeline of Analysis</a:t>
            </a:r>
            <a:endParaRPr sz="1400"/>
          </a:p>
          <a:p>
            <a:pPr indent="-317500" lvl="0" marL="457200" rtl="0" algn="l">
              <a:spcBef>
                <a:spcPts val="0"/>
              </a:spcBef>
              <a:spcAft>
                <a:spcPts val="0"/>
              </a:spcAft>
              <a:buSzPts val="1400"/>
              <a:buChar char="●"/>
            </a:pPr>
            <a:r>
              <a:rPr lang="en" sz="1400"/>
              <a:t>EDA Overview</a:t>
            </a:r>
            <a:endParaRPr sz="1400"/>
          </a:p>
        </p:txBody>
      </p:sp>
      <p:sp>
        <p:nvSpPr>
          <p:cNvPr id="104" name="Google Shape;104;p14"/>
          <p:cNvSpPr/>
          <p:nvPr/>
        </p:nvSpPr>
        <p:spPr>
          <a:xfrm>
            <a:off x="1269852" y="3186725"/>
            <a:ext cx="2760600" cy="607800"/>
          </a:xfrm>
          <a:prstGeom prst="chevron">
            <a:avLst>
              <a:gd fmla="val 50000" name="adj"/>
            </a:avLst>
          </a:prstGeom>
          <a:solidFill>
            <a:schemeClr val="dk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b="1" sz="1600"/>
          </a:p>
        </p:txBody>
      </p:sp>
      <p:sp>
        <p:nvSpPr>
          <p:cNvPr id="105" name="Google Shape;105;p14"/>
          <p:cNvSpPr txBox="1"/>
          <p:nvPr>
            <p:ph idx="4294967295" type="body"/>
          </p:nvPr>
        </p:nvSpPr>
        <p:spPr>
          <a:xfrm>
            <a:off x="1448433" y="3333426"/>
            <a:ext cx="2257200" cy="314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a:solidFill>
                  <a:schemeClr val="lt1"/>
                </a:solidFill>
              </a:rPr>
              <a:t>Results</a:t>
            </a:r>
            <a:endParaRPr b="1" sz="1600">
              <a:solidFill>
                <a:schemeClr val="lt1"/>
              </a:solidFill>
            </a:endParaRPr>
          </a:p>
        </p:txBody>
      </p:sp>
      <p:sp>
        <p:nvSpPr>
          <p:cNvPr id="106" name="Google Shape;106;p14"/>
          <p:cNvSpPr txBox="1"/>
          <p:nvPr>
            <p:ph idx="4294967295" type="body"/>
          </p:nvPr>
        </p:nvSpPr>
        <p:spPr>
          <a:xfrm>
            <a:off x="1448425" y="3868600"/>
            <a:ext cx="3016800" cy="1129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solidFill>
                  <a:srgbClr val="1F1F1F"/>
                </a:solidFill>
                <a:highlight>
                  <a:srgbClr val="FFFFFF"/>
                </a:highlight>
              </a:rPr>
              <a:t>Model Results</a:t>
            </a:r>
            <a:endParaRPr sz="1400">
              <a:solidFill>
                <a:srgbClr val="1F1F1F"/>
              </a:solidFill>
              <a:highlight>
                <a:srgbClr val="FFFFFF"/>
              </a:highlight>
            </a:endParaRPr>
          </a:p>
          <a:p>
            <a:pPr indent="-317500" lvl="0" marL="457200" rtl="0" algn="l">
              <a:spcBef>
                <a:spcPts val="0"/>
              </a:spcBef>
              <a:spcAft>
                <a:spcPts val="0"/>
              </a:spcAft>
              <a:buClr>
                <a:srgbClr val="1F1F1F"/>
              </a:buClr>
              <a:buSzPts val="1400"/>
              <a:buChar char="●"/>
            </a:pPr>
            <a:r>
              <a:rPr lang="en" sz="1400">
                <a:solidFill>
                  <a:srgbClr val="1F1F1F"/>
                </a:solidFill>
                <a:highlight>
                  <a:srgbClr val="FFFFFF"/>
                </a:highlight>
              </a:rPr>
              <a:t>Testing Results</a:t>
            </a:r>
            <a:endParaRPr sz="1400">
              <a:solidFill>
                <a:srgbClr val="1F1F1F"/>
              </a:solidFill>
              <a:highlight>
                <a:srgbClr val="FFFFFF"/>
              </a:highlight>
            </a:endParaRPr>
          </a:p>
          <a:p>
            <a:pPr indent="-317500" lvl="0" marL="457200" rtl="0" algn="l">
              <a:spcBef>
                <a:spcPts val="0"/>
              </a:spcBef>
              <a:spcAft>
                <a:spcPts val="0"/>
              </a:spcAft>
              <a:buClr>
                <a:srgbClr val="1F1F1F"/>
              </a:buClr>
              <a:buSzPts val="1400"/>
              <a:buChar char="●"/>
            </a:pPr>
            <a:r>
              <a:rPr lang="en" sz="1400">
                <a:solidFill>
                  <a:srgbClr val="1F1F1F"/>
                </a:solidFill>
                <a:highlight>
                  <a:srgbClr val="FFFFFF"/>
                </a:highlight>
              </a:rPr>
              <a:t>Expansions</a:t>
            </a:r>
            <a:endParaRPr sz="1400">
              <a:solidFill>
                <a:srgbClr val="1F1F1F"/>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5"/>
          <p:cNvSpPr txBox="1"/>
          <p:nvPr>
            <p:ph type="title"/>
          </p:nvPr>
        </p:nvSpPr>
        <p:spPr>
          <a:xfrm>
            <a:off x="245750" y="137655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12" name="Google Shape;112;p15"/>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Clr>
                <a:schemeClr val="lt1"/>
              </a:buClr>
              <a:buSzPts val="1400"/>
              <a:buChar char="●"/>
            </a:pPr>
            <a:r>
              <a:rPr lang="en" sz="1400"/>
              <a:t>Domain Problem </a:t>
            </a:r>
            <a:endParaRPr sz="1400"/>
          </a:p>
          <a:p>
            <a:pPr indent="-317500" lvl="0" marL="457200" rtl="0" algn="l">
              <a:spcBef>
                <a:spcPts val="0"/>
              </a:spcBef>
              <a:spcAft>
                <a:spcPts val="0"/>
              </a:spcAft>
              <a:buClr>
                <a:schemeClr val="lt1"/>
              </a:buClr>
              <a:buSzPts val="1400"/>
              <a:buChar char="●"/>
            </a:pPr>
            <a:r>
              <a:rPr lang="en" sz="1400"/>
              <a:t>Libraries Used</a:t>
            </a:r>
            <a:endParaRPr sz="1400"/>
          </a:p>
          <a:p>
            <a:pPr indent="0" lvl="0" marL="457200" rtl="0" algn="l">
              <a:spcBef>
                <a:spcPts val="800"/>
              </a:spcBef>
              <a:spcAft>
                <a:spcPts val="800"/>
              </a:spcAft>
              <a:buNone/>
            </a:pPr>
            <a:r>
              <a:t/>
            </a:r>
            <a:endParaRPr sz="1500"/>
          </a:p>
        </p:txBody>
      </p:sp>
      <p:sp>
        <p:nvSpPr>
          <p:cNvPr id="113" name="Google Shape;113;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Carbon Dioxide Emission?</a:t>
            </a:r>
            <a:endParaRPr/>
          </a:p>
        </p:txBody>
      </p:sp>
      <p:pic>
        <p:nvPicPr>
          <p:cNvPr id="119" name="Google Shape;119;p16"/>
          <p:cNvPicPr preferRelativeResize="0"/>
          <p:nvPr/>
        </p:nvPicPr>
        <p:blipFill>
          <a:blip r:embed="rId3">
            <a:alphaModFix/>
          </a:blip>
          <a:stretch>
            <a:fillRect/>
          </a:stretch>
        </p:blipFill>
        <p:spPr>
          <a:xfrm>
            <a:off x="1177875" y="1238075"/>
            <a:ext cx="6104976" cy="3433250"/>
          </a:xfrm>
          <a:prstGeom prst="rect">
            <a:avLst/>
          </a:prstGeom>
          <a:noFill/>
          <a:ln>
            <a:noFill/>
          </a:ln>
        </p:spPr>
      </p:pic>
      <p:sp>
        <p:nvSpPr>
          <p:cNvPr id="120" name="Google Shape;120;p16"/>
          <p:cNvSpPr txBox="1"/>
          <p:nvPr/>
        </p:nvSpPr>
        <p:spPr>
          <a:xfrm>
            <a:off x="1572050" y="4671325"/>
            <a:ext cx="5710800" cy="1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lt2"/>
                </a:solidFill>
              </a:rPr>
              <a:t>https://www.myclimate.org/en/information/faq/faq-detail/what-is-co2-and-where-does-it-come-from/</a:t>
            </a:r>
            <a:endParaRPr sz="900">
              <a:solidFill>
                <a:schemeClr val="l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Domain Problem </a:t>
            </a:r>
            <a:endParaRPr/>
          </a:p>
        </p:txBody>
      </p:sp>
      <p:sp>
        <p:nvSpPr>
          <p:cNvPr id="126" name="Google Shape;126;p17"/>
          <p:cNvSpPr txBox="1"/>
          <p:nvPr/>
        </p:nvSpPr>
        <p:spPr>
          <a:xfrm>
            <a:off x="311700" y="3711575"/>
            <a:ext cx="7725900" cy="96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600">
              <a:solidFill>
                <a:srgbClr val="1F1F1F"/>
              </a:solidFill>
            </a:endParaRPr>
          </a:p>
          <a:p>
            <a:pPr indent="0" lvl="0" marL="457200" rtl="0" algn="l">
              <a:lnSpc>
                <a:spcPct val="115000"/>
              </a:lnSpc>
              <a:spcBef>
                <a:spcPts val="300"/>
              </a:spcBef>
              <a:spcAft>
                <a:spcPts val="0"/>
              </a:spcAft>
              <a:buNone/>
            </a:pPr>
            <a:r>
              <a:rPr b="1" i="1" lang="en" sz="1800">
                <a:highlight>
                  <a:srgbClr val="FFFFFF"/>
                </a:highlight>
              </a:rPr>
              <a:t>“Is higher share of renewable energy in total energy supply associated with lower per-capita CO₂ emissions?” </a:t>
            </a:r>
            <a:endParaRPr b="1" sz="1800">
              <a:solidFill>
                <a:srgbClr val="1F1F1F"/>
              </a:solidFill>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127" name="Google Shape;127;p17"/>
          <p:cNvPicPr preferRelativeResize="0"/>
          <p:nvPr/>
        </p:nvPicPr>
        <p:blipFill>
          <a:blip r:embed="rId3">
            <a:alphaModFix/>
          </a:blip>
          <a:stretch>
            <a:fillRect/>
          </a:stretch>
        </p:blipFill>
        <p:spPr>
          <a:xfrm>
            <a:off x="540225" y="1188425"/>
            <a:ext cx="8292075" cy="2619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8"/>
          <p:cNvSpPr txBox="1"/>
          <p:nvPr>
            <p:ph idx="1" type="body"/>
          </p:nvPr>
        </p:nvSpPr>
        <p:spPr>
          <a:xfrm>
            <a:off x="88669" y="1500000"/>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0"/>
              </a:spcAft>
              <a:buNone/>
            </a:pPr>
            <a:r>
              <a:rPr b="1" lang="en" sz="1600">
                <a:latin typeface="Arial"/>
                <a:ea typeface="Arial"/>
                <a:cs typeface="Arial"/>
                <a:sym typeface="Arial"/>
              </a:rPr>
              <a:t>Data Processing</a:t>
            </a:r>
            <a:endParaRPr b="1" sz="1600">
              <a:latin typeface="Arial"/>
              <a:ea typeface="Arial"/>
              <a:cs typeface="Arial"/>
              <a:sym typeface="Arial"/>
            </a:endParaRPr>
          </a:p>
          <a:p>
            <a:pPr indent="0" lvl="0" marL="0" rtl="0" algn="ctr">
              <a:spcBef>
                <a:spcPts val="1200"/>
              </a:spcBef>
              <a:spcAft>
                <a:spcPts val="0"/>
              </a:spcAft>
              <a:buNone/>
            </a:pPr>
            <a:r>
              <a:rPr b="1" lang="en">
                <a:latin typeface="Arial"/>
                <a:ea typeface="Arial"/>
                <a:cs typeface="Arial"/>
                <a:sym typeface="Arial"/>
              </a:rPr>
              <a:t>Cleaning and Standardization</a:t>
            </a:r>
            <a:endParaRPr b="1">
              <a:latin typeface="Arial"/>
              <a:ea typeface="Arial"/>
              <a:cs typeface="Arial"/>
              <a:sym typeface="Arial"/>
            </a:endParaRPr>
          </a:p>
          <a:p>
            <a:pPr indent="0" lvl="0" marL="0" rtl="0" algn="l">
              <a:spcBef>
                <a:spcPts val="1200"/>
              </a:spcBef>
              <a:spcAft>
                <a:spcPts val="1200"/>
              </a:spcAft>
              <a:buNone/>
            </a:pPr>
            <a:r>
              <a:t/>
            </a:r>
            <a:endParaRPr b="1" sz="1600">
              <a:latin typeface="Arial"/>
              <a:ea typeface="Arial"/>
              <a:cs typeface="Arial"/>
              <a:sym typeface="Arial"/>
            </a:endParaRPr>
          </a:p>
        </p:txBody>
      </p:sp>
      <p:sp>
        <p:nvSpPr>
          <p:cNvPr id="133" name="Google Shape;133;p18"/>
          <p:cNvSpPr txBox="1"/>
          <p:nvPr>
            <p:ph type="title"/>
          </p:nvPr>
        </p:nvSpPr>
        <p:spPr>
          <a:xfrm>
            <a:off x="88675" y="360725"/>
            <a:ext cx="8520600" cy="607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Python Libraries </a:t>
            </a:r>
            <a:endParaRPr/>
          </a:p>
        </p:txBody>
      </p:sp>
      <p:sp>
        <p:nvSpPr>
          <p:cNvPr id="134" name="Google Shape;134;p18"/>
          <p:cNvSpPr txBox="1"/>
          <p:nvPr/>
        </p:nvSpPr>
        <p:spPr>
          <a:xfrm>
            <a:off x="-88656" y="2356196"/>
            <a:ext cx="3000000" cy="431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pandas </a:t>
            </a:r>
            <a:r>
              <a:rPr lang="en"/>
              <a:t>- ETL and Merging</a:t>
            </a:r>
            <a:endParaRPr/>
          </a:p>
        </p:txBody>
      </p:sp>
      <p:sp>
        <p:nvSpPr>
          <p:cNvPr id="135" name="Google Shape;135;p18"/>
          <p:cNvSpPr txBox="1"/>
          <p:nvPr/>
        </p:nvSpPr>
        <p:spPr>
          <a:xfrm>
            <a:off x="-88656" y="2818271"/>
            <a:ext cx="3000000" cy="683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numpy </a:t>
            </a:r>
            <a:r>
              <a:rPr lang="en"/>
              <a:t>- Numerical operations</a:t>
            </a:r>
            <a:endParaRPr/>
          </a:p>
        </p:txBody>
      </p:sp>
      <p:sp>
        <p:nvSpPr>
          <p:cNvPr id="136" name="Google Shape;136;p18"/>
          <p:cNvSpPr txBox="1"/>
          <p:nvPr/>
        </p:nvSpPr>
        <p:spPr>
          <a:xfrm>
            <a:off x="-88656" y="3501671"/>
            <a:ext cx="3000000" cy="431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pycountry </a:t>
            </a:r>
            <a:r>
              <a:rPr lang="en"/>
              <a:t>- ISO-3 codes</a:t>
            </a:r>
            <a:endParaRPr/>
          </a:p>
        </p:txBody>
      </p:sp>
      <p:sp>
        <p:nvSpPr>
          <p:cNvPr id="137" name="Google Shape;137;p18"/>
          <p:cNvSpPr txBox="1"/>
          <p:nvPr>
            <p:ph idx="1" type="body"/>
          </p:nvPr>
        </p:nvSpPr>
        <p:spPr>
          <a:xfrm>
            <a:off x="3167995" y="1500004"/>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0"/>
              </a:spcAft>
              <a:buNone/>
            </a:pPr>
            <a:r>
              <a:rPr b="1" lang="en" sz="1600">
                <a:latin typeface="Arial"/>
                <a:ea typeface="Arial"/>
                <a:cs typeface="Arial"/>
                <a:sym typeface="Arial"/>
              </a:rPr>
              <a:t>Visualization</a:t>
            </a:r>
            <a:endParaRPr b="1" sz="1600">
              <a:latin typeface="Arial"/>
              <a:ea typeface="Arial"/>
              <a:cs typeface="Arial"/>
              <a:sym typeface="Arial"/>
            </a:endParaRPr>
          </a:p>
          <a:p>
            <a:pPr indent="0" lvl="0" marL="0" rtl="0" algn="ctr">
              <a:spcBef>
                <a:spcPts val="1200"/>
              </a:spcBef>
              <a:spcAft>
                <a:spcPts val="0"/>
              </a:spcAft>
              <a:buNone/>
            </a:pPr>
            <a:r>
              <a:rPr b="1" lang="en">
                <a:latin typeface="Arial"/>
                <a:ea typeface="Arial"/>
                <a:cs typeface="Arial"/>
                <a:sym typeface="Arial"/>
              </a:rPr>
              <a:t>Statistical plots and Styling</a:t>
            </a:r>
            <a:endParaRPr b="1">
              <a:latin typeface="Arial"/>
              <a:ea typeface="Arial"/>
              <a:cs typeface="Arial"/>
              <a:sym typeface="Arial"/>
            </a:endParaRPr>
          </a:p>
          <a:p>
            <a:pPr indent="0" lvl="0" marL="0" rtl="0" algn="l">
              <a:spcBef>
                <a:spcPts val="1200"/>
              </a:spcBef>
              <a:spcAft>
                <a:spcPts val="1200"/>
              </a:spcAft>
              <a:buNone/>
            </a:pPr>
            <a:r>
              <a:t/>
            </a:r>
            <a:endParaRPr b="1" sz="1600">
              <a:latin typeface="Arial"/>
              <a:ea typeface="Arial"/>
              <a:cs typeface="Arial"/>
              <a:sym typeface="Arial"/>
            </a:endParaRPr>
          </a:p>
        </p:txBody>
      </p:sp>
      <p:sp>
        <p:nvSpPr>
          <p:cNvPr id="138" name="Google Shape;138;p18"/>
          <p:cNvSpPr txBox="1"/>
          <p:nvPr/>
        </p:nvSpPr>
        <p:spPr>
          <a:xfrm>
            <a:off x="3071995" y="2356200"/>
            <a:ext cx="3000000" cy="683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seaborn </a:t>
            </a:r>
            <a:r>
              <a:rPr lang="en"/>
              <a:t>- Heatmaps, Scatterplots</a:t>
            </a:r>
            <a:endParaRPr/>
          </a:p>
        </p:txBody>
      </p:sp>
      <p:sp>
        <p:nvSpPr>
          <p:cNvPr id="139" name="Google Shape;139;p18"/>
          <p:cNvSpPr txBox="1"/>
          <p:nvPr/>
        </p:nvSpPr>
        <p:spPr>
          <a:xfrm>
            <a:off x="3071995" y="3054758"/>
            <a:ext cx="3000000" cy="683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matplotlib </a:t>
            </a:r>
            <a:r>
              <a:rPr lang="en"/>
              <a:t>- Fine tuning, styling</a:t>
            </a:r>
            <a:endParaRPr/>
          </a:p>
        </p:txBody>
      </p:sp>
      <p:sp>
        <p:nvSpPr>
          <p:cNvPr id="140" name="Google Shape;140;p18"/>
          <p:cNvSpPr txBox="1"/>
          <p:nvPr>
            <p:ph idx="1" type="body"/>
          </p:nvPr>
        </p:nvSpPr>
        <p:spPr>
          <a:xfrm>
            <a:off x="6247309" y="1500004"/>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0"/>
              </a:spcAft>
              <a:buNone/>
            </a:pPr>
            <a:r>
              <a:rPr b="1" lang="en" sz="1600">
                <a:latin typeface="Arial"/>
                <a:ea typeface="Arial"/>
                <a:cs typeface="Arial"/>
                <a:sym typeface="Arial"/>
              </a:rPr>
              <a:t>Modeling</a:t>
            </a:r>
            <a:endParaRPr b="1" sz="1600">
              <a:latin typeface="Arial"/>
              <a:ea typeface="Arial"/>
              <a:cs typeface="Arial"/>
              <a:sym typeface="Arial"/>
            </a:endParaRPr>
          </a:p>
          <a:p>
            <a:pPr indent="0" lvl="0" marL="0" rtl="0" algn="ctr">
              <a:spcBef>
                <a:spcPts val="1200"/>
              </a:spcBef>
              <a:spcAft>
                <a:spcPts val="0"/>
              </a:spcAft>
              <a:buNone/>
            </a:pPr>
            <a:r>
              <a:rPr b="1" lang="en">
                <a:latin typeface="Arial"/>
                <a:ea typeface="Arial"/>
                <a:cs typeface="Arial"/>
                <a:sym typeface="Arial"/>
              </a:rPr>
              <a:t>Regression and Features</a:t>
            </a:r>
            <a:endParaRPr b="1">
              <a:latin typeface="Arial"/>
              <a:ea typeface="Arial"/>
              <a:cs typeface="Arial"/>
              <a:sym typeface="Arial"/>
            </a:endParaRPr>
          </a:p>
          <a:p>
            <a:pPr indent="0" lvl="0" marL="0" rtl="0" algn="l">
              <a:spcBef>
                <a:spcPts val="1200"/>
              </a:spcBef>
              <a:spcAft>
                <a:spcPts val="1200"/>
              </a:spcAft>
              <a:buNone/>
            </a:pPr>
            <a:r>
              <a:t/>
            </a:r>
            <a:endParaRPr b="1" sz="1600">
              <a:latin typeface="Arial"/>
              <a:ea typeface="Arial"/>
              <a:cs typeface="Arial"/>
              <a:sym typeface="Arial"/>
            </a:endParaRPr>
          </a:p>
        </p:txBody>
      </p:sp>
      <p:sp>
        <p:nvSpPr>
          <p:cNvPr id="141" name="Google Shape;141;p18"/>
          <p:cNvSpPr txBox="1"/>
          <p:nvPr/>
        </p:nvSpPr>
        <p:spPr>
          <a:xfrm>
            <a:off x="6055309" y="2356200"/>
            <a:ext cx="3000000" cy="683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Statsmodels </a:t>
            </a:r>
            <a:r>
              <a:rPr lang="en"/>
              <a:t>- Fixed Effects, Robust SE</a:t>
            </a:r>
            <a:endParaRPr/>
          </a:p>
        </p:txBody>
      </p:sp>
      <p:sp>
        <p:nvSpPr>
          <p:cNvPr id="142" name="Google Shape;142;p18"/>
          <p:cNvSpPr txBox="1"/>
          <p:nvPr/>
        </p:nvSpPr>
        <p:spPr>
          <a:xfrm>
            <a:off x="6055309" y="3054758"/>
            <a:ext cx="3000000" cy="683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b="1" lang="en" sz="1600"/>
              <a:t>Scikit-Learn </a:t>
            </a:r>
            <a:r>
              <a:rPr lang="en"/>
              <a:t>- Lagged features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9"/>
          <p:cNvSpPr txBox="1"/>
          <p:nvPr>
            <p:ph type="title"/>
          </p:nvPr>
        </p:nvSpPr>
        <p:spPr>
          <a:xfrm>
            <a:off x="295775" y="156025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Data </a:t>
            </a:r>
            <a:endParaRPr/>
          </a:p>
        </p:txBody>
      </p:sp>
      <p:sp>
        <p:nvSpPr>
          <p:cNvPr id="148" name="Google Shape;148;p19"/>
          <p:cNvSpPr txBox="1"/>
          <p:nvPr>
            <p:ph idx="2" type="body"/>
          </p:nvPr>
        </p:nvSpPr>
        <p:spPr>
          <a:xfrm>
            <a:off x="4931325" y="1254875"/>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Data Sources </a:t>
            </a:r>
            <a:endParaRPr sz="1400"/>
          </a:p>
          <a:p>
            <a:pPr indent="-317500" lvl="0" marL="457200" rtl="0" algn="l">
              <a:spcBef>
                <a:spcPts val="0"/>
              </a:spcBef>
              <a:spcAft>
                <a:spcPts val="0"/>
              </a:spcAft>
              <a:buSzPts val="1400"/>
              <a:buChar char="●"/>
            </a:pPr>
            <a:r>
              <a:rPr lang="en" sz="1400"/>
              <a:t>Data Preparation</a:t>
            </a:r>
            <a:endParaRPr sz="1400"/>
          </a:p>
          <a:p>
            <a:pPr indent="0" lvl="0" marL="0" rtl="0" algn="l">
              <a:spcBef>
                <a:spcPts val="800"/>
              </a:spcBef>
              <a:spcAft>
                <a:spcPts val="0"/>
              </a:spcAft>
              <a:buNone/>
            </a:pPr>
            <a:r>
              <a:t/>
            </a:r>
            <a:endParaRPr/>
          </a:p>
          <a:p>
            <a:pPr indent="0" lvl="0" marL="0" rtl="0" algn="l">
              <a:spcBef>
                <a:spcPts val="8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0"/>
          <p:cNvSpPr txBox="1"/>
          <p:nvPr>
            <p:ph type="title"/>
          </p:nvPr>
        </p:nvSpPr>
        <p:spPr>
          <a:xfrm>
            <a:off x="323613" y="3462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Sources</a:t>
            </a:r>
            <a:endParaRPr/>
          </a:p>
        </p:txBody>
      </p:sp>
      <p:sp>
        <p:nvSpPr>
          <p:cNvPr id="154" name="Google Shape;154;p20"/>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155" name="Google Shape;155;p20"/>
          <p:cNvSpPr txBox="1"/>
          <p:nvPr/>
        </p:nvSpPr>
        <p:spPr>
          <a:xfrm>
            <a:off x="513350" y="1094100"/>
            <a:ext cx="8204700" cy="3576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600">
              <a:solidFill>
                <a:srgbClr val="1F1F1F"/>
              </a:solidFill>
            </a:endParaRPr>
          </a:p>
          <a:p>
            <a:pPr indent="-330200" lvl="0" marL="457200" rtl="0" algn="l">
              <a:lnSpc>
                <a:spcPct val="115000"/>
              </a:lnSpc>
              <a:spcBef>
                <a:spcPts val="600"/>
              </a:spcBef>
              <a:spcAft>
                <a:spcPts val="0"/>
              </a:spcAft>
              <a:buSzPts val="1600"/>
              <a:buChar char="●"/>
            </a:pPr>
            <a:r>
              <a:rPr b="1" lang="en" sz="1600">
                <a:highlight>
                  <a:srgbClr val="FFFFFF"/>
                </a:highlight>
              </a:rPr>
              <a:t>International Energy Agency (IEA) - Global Energy Review</a:t>
            </a:r>
            <a:endParaRPr b="1" sz="1600">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Electricity generation by source</a:t>
            </a:r>
            <a:endParaRPr>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Annual country level data, 2010 - 2024</a:t>
            </a:r>
            <a:endParaRPr>
              <a:highlight>
                <a:srgbClr val="FFFFFF"/>
              </a:highlight>
            </a:endParaRPr>
          </a:p>
          <a:p>
            <a:pPr indent="-330200" lvl="0" marL="457200" rtl="0" algn="l">
              <a:lnSpc>
                <a:spcPct val="115000"/>
              </a:lnSpc>
              <a:spcBef>
                <a:spcPts val="0"/>
              </a:spcBef>
              <a:spcAft>
                <a:spcPts val="0"/>
              </a:spcAft>
              <a:buSzPts val="1600"/>
              <a:buChar char="●"/>
            </a:pPr>
            <a:r>
              <a:rPr b="1" lang="en" sz="1600">
                <a:highlight>
                  <a:srgbClr val="FFFFFF"/>
                </a:highlight>
              </a:rPr>
              <a:t>Global Carbon Atlas </a:t>
            </a:r>
            <a:r>
              <a:rPr b="1" lang="en" sz="1600">
                <a:highlight>
                  <a:srgbClr val="FFFFFF"/>
                </a:highlight>
              </a:rPr>
              <a:t>- Global Carbon Atlas Database</a:t>
            </a:r>
            <a:endParaRPr b="1" sz="1600">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CO2 emissions per capita</a:t>
            </a:r>
            <a:endParaRPr>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Cross country reporting</a:t>
            </a:r>
            <a:endParaRPr>
              <a:highlight>
                <a:srgbClr val="FFFFFF"/>
              </a:highlight>
            </a:endParaRPr>
          </a:p>
          <a:p>
            <a:pPr indent="-342900" lvl="0" marL="457200" rtl="0" algn="l">
              <a:lnSpc>
                <a:spcPct val="115000"/>
              </a:lnSpc>
              <a:spcBef>
                <a:spcPts val="0"/>
              </a:spcBef>
              <a:spcAft>
                <a:spcPts val="0"/>
              </a:spcAft>
              <a:buSzPts val="1800"/>
              <a:buChar char="●"/>
            </a:pPr>
            <a:r>
              <a:rPr b="1" lang="en" sz="1600">
                <a:highlight>
                  <a:srgbClr val="FFFFFF"/>
                </a:highlight>
              </a:rPr>
              <a:t>World Bank Group - World Development Indicators</a:t>
            </a:r>
            <a:endParaRPr b="1" sz="1600">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Gross Domestic Product (GDP)</a:t>
            </a:r>
            <a:endParaRPr>
              <a:highlight>
                <a:srgbClr val="FFFFFF"/>
              </a:highlight>
            </a:endParaRPr>
          </a:p>
          <a:p>
            <a:pPr indent="-330200" lvl="1" marL="914400" rtl="0" algn="l">
              <a:lnSpc>
                <a:spcPct val="115000"/>
              </a:lnSpc>
              <a:spcBef>
                <a:spcPts val="0"/>
              </a:spcBef>
              <a:spcAft>
                <a:spcPts val="0"/>
              </a:spcAft>
              <a:buSzPts val="1600"/>
              <a:buChar char="○"/>
            </a:pPr>
            <a:r>
              <a:rPr lang="en">
                <a:highlight>
                  <a:srgbClr val="FFFFFF"/>
                </a:highlight>
              </a:rPr>
              <a:t>Population </a:t>
            </a:r>
            <a:endParaRPr>
              <a:highlight>
                <a:srgbClr val="FFFFFF"/>
              </a:highlight>
            </a:endParaRPr>
          </a:p>
          <a:p>
            <a:pPr indent="-317500" lvl="1" marL="914400" rtl="0" algn="l">
              <a:lnSpc>
                <a:spcPct val="115000"/>
              </a:lnSpc>
              <a:spcBef>
                <a:spcPts val="0"/>
              </a:spcBef>
              <a:spcAft>
                <a:spcPts val="0"/>
              </a:spcAft>
              <a:buSzPts val="1400"/>
              <a:buChar char="○"/>
            </a:pPr>
            <a:r>
              <a:rPr lang="en">
                <a:highlight>
                  <a:srgbClr val="FFFFFF"/>
                </a:highlight>
              </a:rPr>
              <a:t>Country level indicators</a:t>
            </a:r>
            <a:endParaRPr sz="1800">
              <a:solidFill>
                <a:srgbClr val="434343"/>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Preparation</a:t>
            </a:r>
            <a:endParaRPr/>
          </a:p>
        </p:txBody>
      </p:sp>
      <p:sp>
        <p:nvSpPr>
          <p:cNvPr id="161" name="Google Shape;161;p21"/>
          <p:cNvSpPr txBox="1"/>
          <p:nvPr>
            <p:ph idx="4294967295" type="body"/>
          </p:nvPr>
        </p:nvSpPr>
        <p:spPr>
          <a:xfrm>
            <a:off x="88669" y="1500000"/>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0"/>
              </a:spcAft>
              <a:buNone/>
            </a:pPr>
            <a:r>
              <a:rPr b="1" lang="en">
                <a:latin typeface="Arial"/>
                <a:ea typeface="Arial"/>
                <a:cs typeface="Arial"/>
                <a:sym typeface="Arial"/>
              </a:rPr>
              <a:t>Standardization</a:t>
            </a:r>
            <a:endParaRPr b="1">
              <a:latin typeface="Arial"/>
              <a:ea typeface="Arial"/>
              <a:cs typeface="Arial"/>
              <a:sym typeface="Arial"/>
            </a:endParaRPr>
          </a:p>
          <a:p>
            <a:pPr indent="0" lvl="0" marL="0" rtl="0" algn="l">
              <a:spcBef>
                <a:spcPts val="1200"/>
              </a:spcBef>
              <a:spcAft>
                <a:spcPts val="1200"/>
              </a:spcAft>
              <a:buNone/>
            </a:pPr>
            <a:r>
              <a:t/>
            </a:r>
            <a:endParaRPr b="1" sz="1600">
              <a:latin typeface="Arial"/>
              <a:ea typeface="Arial"/>
              <a:cs typeface="Arial"/>
              <a:sym typeface="Arial"/>
            </a:endParaRPr>
          </a:p>
        </p:txBody>
      </p:sp>
      <p:sp>
        <p:nvSpPr>
          <p:cNvPr id="162" name="Google Shape;162;p21"/>
          <p:cNvSpPr txBox="1"/>
          <p:nvPr/>
        </p:nvSpPr>
        <p:spPr>
          <a:xfrm>
            <a:off x="-49242" y="2208394"/>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Cleaned individual data sets</a:t>
            </a:r>
            <a:endParaRPr/>
          </a:p>
        </p:txBody>
      </p:sp>
      <p:sp>
        <p:nvSpPr>
          <p:cNvPr id="163" name="Google Shape;163;p21"/>
          <p:cNvSpPr txBox="1"/>
          <p:nvPr>
            <p:ph idx="4294967295" type="body"/>
          </p:nvPr>
        </p:nvSpPr>
        <p:spPr>
          <a:xfrm>
            <a:off x="3167995" y="1500004"/>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1200"/>
              </a:spcAft>
              <a:buNone/>
            </a:pPr>
            <a:r>
              <a:rPr b="1" lang="en" sz="1700">
                <a:latin typeface="Arial"/>
                <a:ea typeface="Arial"/>
                <a:cs typeface="Arial"/>
                <a:sym typeface="Arial"/>
              </a:rPr>
              <a:t>Merge and Filter</a:t>
            </a:r>
            <a:endParaRPr b="1" sz="1700">
              <a:latin typeface="Arial"/>
              <a:ea typeface="Arial"/>
              <a:cs typeface="Arial"/>
              <a:sym typeface="Arial"/>
            </a:endParaRPr>
          </a:p>
        </p:txBody>
      </p:sp>
      <p:sp>
        <p:nvSpPr>
          <p:cNvPr id="164" name="Google Shape;164;p21"/>
          <p:cNvSpPr txBox="1"/>
          <p:nvPr>
            <p:ph idx="4294967295" type="body"/>
          </p:nvPr>
        </p:nvSpPr>
        <p:spPr>
          <a:xfrm>
            <a:off x="6247309" y="1500004"/>
            <a:ext cx="2808000" cy="3103200"/>
          </a:xfrm>
          <a:prstGeom prst="rect">
            <a:avLst/>
          </a:prstGeom>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300"/>
              </a:spcBef>
              <a:spcAft>
                <a:spcPts val="0"/>
              </a:spcAft>
              <a:buNone/>
            </a:pPr>
            <a:r>
              <a:rPr b="1" lang="en">
                <a:latin typeface="Arial"/>
                <a:ea typeface="Arial"/>
                <a:cs typeface="Arial"/>
                <a:sym typeface="Arial"/>
              </a:rPr>
              <a:t>Engineering</a:t>
            </a:r>
            <a:endParaRPr b="1">
              <a:latin typeface="Arial"/>
              <a:ea typeface="Arial"/>
              <a:cs typeface="Arial"/>
              <a:sym typeface="Arial"/>
            </a:endParaRPr>
          </a:p>
          <a:p>
            <a:pPr indent="0" lvl="0" marL="0" rtl="0" algn="l">
              <a:spcBef>
                <a:spcPts val="1200"/>
              </a:spcBef>
              <a:spcAft>
                <a:spcPts val="1200"/>
              </a:spcAft>
              <a:buNone/>
            </a:pPr>
            <a:r>
              <a:t/>
            </a:r>
            <a:endParaRPr b="1" sz="1600">
              <a:latin typeface="Arial"/>
              <a:ea typeface="Arial"/>
              <a:cs typeface="Arial"/>
              <a:sym typeface="Arial"/>
            </a:endParaRPr>
          </a:p>
        </p:txBody>
      </p:sp>
      <p:sp>
        <p:nvSpPr>
          <p:cNvPr id="165" name="Google Shape;165;p21"/>
          <p:cNvSpPr txBox="1"/>
          <p:nvPr/>
        </p:nvSpPr>
        <p:spPr>
          <a:xfrm>
            <a:off x="-54038" y="3147682"/>
            <a:ext cx="3000000" cy="431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Applied ISO-3 Codes</a:t>
            </a:r>
            <a:endParaRPr/>
          </a:p>
        </p:txBody>
      </p:sp>
      <p:sp>
        <p:nvSpPr>
          <p:cNvPr id="166" name="Google Shape;166;p21"/>
          <p:cNvSpPr txBox="1"/>
          <p:nvPr/>
        </p:nvSpPr>
        <p:spPr>
          <a:xfrm>
            <a:off x="3071982" y="2208394"/>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Kept only countries in all 3 sources.</a:t>
            </a:r>
            <a:endParaRPr/>
          </a:p>
        </p:txBody>
      </p:sp>
      <p:sp>
        <p:nvSpPr>
          <p:cNvPr id="167" name="Google Shape;167;p21"/>
          <p:cNvSpPr txBox="1"/>
          <p:nvPr/>
        </p:nvSpPr>
        <p:spPr>
          <a:xfrm>
            <a:off x="3079313" y="2946951"/>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Removed regions / aggregates</a:t>
            </a:r>
            <a:endParaRPr/>
          </a:p>
        </p:txBody>
      </p:sp>
      <p:sp>
        <p:nvSpPr>
          <p:cNvPr id="168" name="Google Shape;168;p21"/>
          <p:cNvSpPr txBox="1"/>
          <p:nvPr/>
        </p:nvSpPr>
        <p:spPr>
          <a:xfrm>
            <a:off x="3071982" y="3744219"/>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Merged on ISO-3 and Year</a:t>
            </a:r>
            <a:endParaRPr/>
          </a:p>
        </p:txBody>
      </p:sp>
      <p:sp>
        <p:nvSpPr>
          <p:cNvPr id="169" name="Google Shape;169;p21"/>
          <p:cNvSpPr txBox="1"/>
          <p:nvPr/>
        </p:nvSpPr>
        <p:spPr>
          <a:xfrm>
            <a:off x="6147632" y="2238157"/>
            <a:ext cx="3000000" cy="431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Log transformations</a:t>
            </a:r>
            <a:endParaRPr/>
          </a:p>
        </p:txBody>
      </p:sp>
      <p:sp>
        <p:nvSpPr>
          <p:cNvPr id="170" name="Google Shape;170;p21"/>
          <p:cNvSpPr txBox="1"/>
          <p:nvPr/>
        </p:nvSpPr>
        <p:spPr>
          <a:xfrm>
            <a:off x="6154963" y="2937300"/>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Lagged features 1 and 2 years</a:t>
            </a:r>
            <a:endParaRPr/>
          </a:p>
        </p:txBody>
      </p:sp>
      <p:sp>
        <p:nvSpPr>
          <p:cNvPr id="171" name="Google Shape;171;p21"/>
          <p:cNvSpPr txBox="1"/>
          <p:nvPr/>
        </p:nvSpPr>
        <p:spPr>
          <a:xfrm>
            <a:off x="6147632" y="3773982"/>
            <a:ext cx="3000000" cy="714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300"/>
              </a:spcBef>
              <a:spcAft>
                <a:spcPts val="0"/>
              </a:spcAft>
              <a:buSzPts val="1400"/>
              <a:buChar char="●"/>
            </a:pPr>
            <a:r>
              <a:rPr lang="en" sz="1600"/>
              <a:t>Final data set - 140 countries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title"/>
          </p:nvPr>
        </p:nvSpPr>
        <p:spPr>
          <a:xfrm>
            <a:off x="296275" y="13526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Analysis</a:t>
            </a:r>
            <a:endParaRPr/>
          </a:p>
        </p:txBody>
      </p:sp>
      <p:sp>
        <p:nvSpPr>
          <p:cNvPr id="177" name="Google Shape;177;p22"/>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Methodology</a:t>
            </a:r>
            <a:endParaRPr sz="1400"/>
          </a:p>
          <a:p>
            <a:pPr indent="-317500" lvl="0" marL="457200" rtl="0" algn="l">
              <a:spcBef>
                <a:spcPts val="0"/>
              </a:spcBef>
              <a:spcAft>
                <a:spcPts val="0"/>
              </a:spcAft>
              <a:buSzPts val="1400"/>
              <a:buChar char="●"/>
            </a:pPr>
            <a:r>
              <a:rPr lang="en" sz="1400"/>
              <a:t>Timeline of Analysis</a:t>
            </a:r>
            <a:endParaRPr sz="1400"/>
          </a:p>
          <a:p>
            <a:pPr indent="-317500" lvl="0" marL="457200" rtl="0" algn="l">
              <a:spcBef>
                <a:spcPts val="0"/>
              </a:spcBef>
              <a:spcAft>
                <a:spcPts val="0"/>
              </a:spcAft>
              <a:buSzPts val="1400"/>
              <a:buChar char="●"/>
            </a:pPr>
            <a:r>
              <a:rPr lang="en" sz="1400"/>
              <a:t>EDA Overview</a:t>
            </a:r>
            <a:endParaRPr sz="1400"/>
          </a:p>
          <a:p>
            <a:pPr indent="0" lvl="0" marL="0" rtl="0" algn="l">
              <a:spcBef>
                <a:spcPts val="800"/>
              </a:spcBef>
              <a:spcAft>
                <a:spcPts val="8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Methodology</a:t>
            </a:r>
            <a:endParaRPr/>
          </a:p>
        </p:txBody>
      </p:sp>
      <p:sp>
        <p:nvSpPr>
          <p:cNvPr id="183" name="Google Shape;183;p23"/>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600"/>
              </a:spcBef>
              <a:spcAft>
                <a:spcPts val="0"/>
              </a:spcAft>
              <a:buClr>
                <a:srgbClr val="000000"/>
              </a:buClr>
              <a:buSzPts val="1600"/>
              <a:buFont typeface="Arial"/>
              <a:buChar char="●"/>
            </a:pPr>
            <a:r>
              <a:rPr b="1" lang="en" sz="1600">
                <a:solidFill>
                  <a:srgbClr val="000000"/>
                </a:solidFill>
                <a:highlight>
                  <a:schemeClr val="lt1"/>
                </a:highlight>
                <a:latin typeface="Arial"/>
                <a:ea typeface="Arial"/>
                <a:cs typeface="Arial"/>
                <a:sym typeface="Arial"/>
              </a:rPr>
              <a:t>Study Design</a:t>
            </a:r>
            <a:endParaRPr b="1" sz="1600">
              <a:solidFill>
                <a:srgbClr val="000000"/>
              </a:solidFill>
              <a:highlight>
                <a:schemeClr val="lt1"/>
              </a:highlight>
              <a:latin typeface="Arial"/>
              <a:ea typeface="Arial"/>
              <a:cs typeface="Arial"/>
              <a:sym typeface="Arial"/>
            </a:endParaRPr>
          </a:p>
          <a:p>
            <a:pPr indent="-330200" lvl="1" marL="914400" rtl="0" algn="l">
              <a:lnSpc>
                <a:spcPct val="150000"/>
              </a:lnSpc>
              <a:spcBef>
                <a:spcPts val="0"/>
              </a:spcBef>
              <a:spcAft>
                <a:spcPts val="0"/>
              </a:spcAft>
              <a:buClr>
                <a:srgbClr val="000000"/>
              </a:buClr>
              <a:buSzPts val="1600"/>
              <a:buFont typeface="Arial"/>
              <a:buChar char="○"/>
            </a:pPr>
            <a:r>
              <a:rPr lang="en" sz="1600">
                <a:solidFill>
                  <a:srgbClr val="000000"/>
                </a:solidFill>
                <a:highlight>
                  <a:schemeClr val="lt1"/>
                </a:highlight>
                <a:latin typeface="Arial"/>
                <a:ea typeface="Arial"/>
                <a:cs typeface="Arial"/>
                <a:sym typeface="Arial"/>
              </a:rPr>
              <a:t>Comparative observational study</a:t>
            </a:r>
            <a:endParaRPr sz="1600">
              <a:solidFill>
                <a:srgbClr val="000000"/>
              </a:solidFill>
              <a:highlight>
                <a:schemeClr val="lt1"/>
              </a:highlight>
              <a:latin typeface="Arial"/>
              <a:ea typeface="Arial"/>
              <a:cs typeface="Arial"/>
              <a:sym typeface="Arial"/>
            </a:endParaRPr>
          </a:p>
          <a:p>
            <a:pPr indent="-330200" lvl="1" marL="914400" rtl="0" algn="l">
              <a:lnSpc>
                <a:spcPct val="150000"/>
              </a:lnSpc>
              <a:spcBef>
                <a:spcPts val="0"/>
              </a:spcBef>
              <a:spcAft>
                <a:spcPts val="0"/>
              </a:spcAft>
              <a:buClr>
                <a:srgbClr val="000000"/>
              </a:buClr>
              <a:buSzPts val="1600"/>
              <a:buFont typeface="Arial"/>
              <a:buChar char="○"/>
            </a:pPr>
            <a:r>
              <a:rPr lang="en" sz="1600">
                <a:solidFill>
                  <a:srgbClr val="000000"/>
                </a:solidFill>
                <a:highlight>
                  <a:schemeClr val="lt1"/>
                </a:highlight>
                <a:latin typeface="Arial"/>
                <a:ea typeface="Arial"/>
                <a:cs typeface="Arial"/>
                <a:sym typeface="Arial"/>
              </a:rPr>
              <a:t>Quantitative, correlational analysis</a:t>
            </a:r>
            <a:endParaRPr sz="1600">
              <a:solidFill>
                <a:srgbClr val="000000"/>
              </a:solidFill>
              <a:highlight>
                <a:schemeClr val="lt1"/>
              </a:highlight>
              <a:latin typeface="Arial"/>
              <a:ea typeface="Arial"/>
              <a:cs typeface="Arial"/>
              <a:sym typeface="Arial"/>
            </a:endParaRPr>
          </a:p>
          <a:p>
            <a:pPr indent="-330200" lvl="1" marL="914400" rtl="0" algn="l">
              <a:lnSpc>
                <a:spcPct val="150000"/>
              </a:lnSpc>
              <a:spcBef>
                <a:spcPts val="0"/>
              </a:spcBef>
              <a:spcAft>
                <a:spcPts val="0"/>
              </a:spcAft>
              <a:buClr>
                <a:srgbClr val="000000"/>
              </a:buClr>
              <a:buSzPts val="1600"/>
              <a:buFont typeface="Arial"/>
              <a:buChar char="○"/>
            </a:pPr>
            <a:r>
              <a:rPr lang="en" sz="1600">
                <a:solidFill>
                  <a:srgbClr val="000000"/>
                </a:solidFill>
                <a:highlight>
                  <a:schemeClr val="lt1"/>
                </a:highlight>
                <a:latin typeface="Arial"/>
                <a:ea typeface="Arial"/>
                <a:cs typeface="Arial"/>
                <a:sym typeface="Arial"/>
              </a:rPr>
              <a:t>Multi-country panel data set</a:t>
            </a:r>
            <a:endParaRPr/>
          </a:p>
        </p:txBody>
      </p:sp>
      <p:sp>
        <p:nvSpPr>
          <p:cNvPr id="184" name="Google Shape;184;p23"/>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600"/>
              </a:spcBef>
              <a:spcAft>
                <a:spcPts val="0"/>
              </a:spcAft>
              <a:buClr>
                <a:srgbClr val="000000"/>
              </a:buClr>
              <a:buSzPts val="1600"/>
              <a:buFont typeface="Arial"/>
              <a:buChar char="●"/>
            </a:pPr>
            <a:r>
              <a:rPr b="1" lang="en" sz="1600">
                <a:solidFill>
                  <a:srgbClr val="000000"/>
                </a:solidFill>
                <a:highlight>
                  <a:schemeClr val="lt1"/>
                </a:highlight>
                <a:latin typeface="Arial"/>
                <a:ea typeface="Arial"/>
                <a:cs typeface="Arial"/>
                <a:sym typeface="Arial"/>
              </a:rPr>
              <a:t>Key Variables</a:t>
            </a:r>
            <a:endParaRPr b="1" sz="16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CO2 emissions per capita</a:t>
            </a:r>
            <a:endParaRPr sz="14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Renewable energy share</a:t>
            </a:r>
            <a:endParaRPr sz="14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Gross Domestic Product per Capita</a:t>
            </a:r>
            <a:endParaRPr sz="14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Population</a:t>
            </a:r>
            <a:endParaRPr sz="14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Country identifiers </a:t>
            </a:r>
            <a:endParaRPr sz="1400">
              <a:solidFill>
                <a:srgbClr val="000000"/>
              </a:solidFill>
              <a:highlight>
                <a:schemeClr val="lt1"/>
              </a:highlight>
              <a:latin typeface="Arial"/>
              <a:ea typeface="Arial"/>
              <a:cs typeface="Arial"/>
              <a:sym typeface="Arial"/>
            </a:endParaRPr>
          </a:p>
          <a:p>
            <a:pPr indent="-317500" lvl="2" marL="13716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ISO - 3 Codes</a:t>
            </a:r>
            <a:endParaRPr sz="1400">
              <a:solidFill>
                <a:srgbClr val="000000"/>
              </a:solidFill>
              <a:highlight>
                <a:schemeClr val="lt1"/>
              </a:highlight>
              <a:latin typeface="Arial"/>
              <a:ea typeface="Arial"/>
              <a:cs typeface="Arial"/>
              <a:sym typeface="Arial"/>
            </a:endParaRPr>
          </a:p>
          <a:p>
            <a:pPr indent="-317500" lvl="1" marL="914400" rtl="0" algn="l">
              <a:lnSpc>
                <a:spcPct val="150000"/>
              </a:lnSpc>
              <a:spcBef>
                <a:spcPts val="0"/>
              </a:spcBef>
              <a:spcAft>
                <a:spcPts val="0"/>
              </a:spcAft>
              <a:buClr>
                <a:srgbClr val="000000"/>
              </a:buClr>
              <a:buSzPts val="1400"/>
              <a:buFont typeface="Arial"/>
              <a:buChar char="○"/>
            </a:pPr>
            <a:r>
              <a:rPr lang="en" sz="1400">
                <a:solidFill>
                  <a:srgbClr val="000000"/>
                </a:solidFill>
                <a:highlight>
                  <a:schemeClr val="lt1"/>
                </a:highlight>
                <a:latin typeface="Arial"/>
                <a:ea typeface="Arial"/>
                <a:cs typeface="Arial"/>
                <a:sym typeface="Arial"/>
              </a:rPr>
              <a:t>Year</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descr="Background pointer shape in timeline graphic" id="189" name="Google Shape;189;p24"/>
          <p:cNvSpPr/>
          <p:nvPr/>
        </p:nvSpPr>
        <p:spPr>
          <a:xfrm>
            <a:off x="333534" y="2578425"/>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300"/>
          </a:p>
        </p:txBody>
      </p:sp>
      <p:sp>
        <p:nvSpPr>
          <p:cNvPr id="190" name="Google Shape;190;p24"/>
          <p:cNvSpPr txBox="1"/>
          <p:nvPr>
            <p:ph idx="4294967295" type="body"/>
          </p:nvPr>
        </p:nvSpPr>
        <p:spPr>
          <a:xfrm>
            <a:off x="420548" y="2583300"/>
            <a:ext cx="14556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sz="1500">
              <a:solidFill>
                <a:schemeClr val="lt1"/>
              </a:solidFill>
            </a:endParaRPr>
          </a:p>
          <a:p>
            <a:pPr indent="0" lvl="0" marL="0" rtl="0" algn="ctr">
              <a:lnSpc>
                <a:spcPct val="100000"/>
              </a:lnSpc>
              <a:spcBef>
                <a:spcPts val="0"/>
              </a:spcBef>
              <a:spcAft>
                <a:spcPts val="0"/>
              </a:spcAft>
              <a:buNone/>
            </a:pPr>
            <a:r>
              <a:rPr lang="en" sz="1500">
                <a:solidFill>
                  <a:schemeClr val="lt1"/>
                </a:solidFill>
              </a:rPr>
              <a:t>Initial</a:t>
            </a:r>
            <a:r>
              <a:rPr lang="en" sz="1500">
                <a:solidFill>
                  <a:schemeClr val="lt1"/>
                </a:solidFill>
              </a:rPr>
              <a:t> Analysis</a:t>
            </a:r>
            <a:endParaRPr sz="1500">
              <a:solidFill>
                <a:schemeClr val="lt1"/>
              </a:solidFill>
            </a:endParaRPr>
          </a:p>
        </p:txBody>
      </p:sp>
      <p:grpSp>
        <p:nvGrpSpPr>
          <p:cNvPr id="191" name="Google Shape;191;p24"/>
          <p:cNvGrpSpPr/>
          <p:nvPr/>
        </p:nvGrpSpPr>
        <p:grpSpPr>
          <a:xfrm>
            <a:off x="961870" y="1989640"/>
            <a:ext cx="198900" cy="593656"/>
            <a:chOff x="777447" y="1610215"/>
            <a:chExt cx="198900" cy="593656"/>
          </a:xfrm>
        </p:grpSpPr>
        <p:cxnSp>
          <p:nvCxnSpPr>
            <p:cNvPr id="192" name="Google Shape;192;p24"/>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93" name="Google Shape;193;p24"/>
            <p:cNvSpPr/>
            <p:nvPr/>
          </p:nvSpPr>
          <p:spPr>
            <a:xfrm>
              <a:off x="777447"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24"/>
          <p:cNvSpPr txBox="1"/>
          <p:nvPr>
            <p:ph idx="4294967295" type="body"/>
          </p:nvPr>
        </p:nvSpPr>
        <p:spPr>
          <a:xfrm>
            <a:off x="148275" y="1207767"/>
            <a:ext cx="2242800" cy="906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t>Initial</a:t>
            </a:r>
            <a:r>
              <a:rPr lang="en" sz="1400"/>
              <a:t> analysis of the data sources used.</a:t>
            </a:r>
            <a:endParaRPr sz="1400"/>
          </a:p>
        </p:txBody>
      </p:sp>
      <p:sp>
        <p:nvSpPr>
          <p:cNvPr descr="Background pointer shape in timeline graphic" id="195" name="Google Shape;195;p24"/>
          <p:cNvSpPr/>
          <p:nvPr/>
        </p:nvSpPr>
        <p:spPr>
          <a:xfrm>
            <a:off x="1809654" y="2578425"/>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300"/>
          </a:p>
        </p:txBody>
      </p:sp>
      <p:sp>
        <p:nvSpPr>
          <p:cNvPr id="196" name="Google Shape;196;p24"/>
          <p:cNvSpPr txBox="1"/>
          <p:nvPr>
            <p:ph idx="4294967295" type="body"/>
          </p:nvPr>
        </p:nvSpPr>
        <p:spPr>
          <a:xfrm>
            <a:off x="2196504" y="2715975"/>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500">
                <a:solidFill>
                  <a:schemeClr val="lt1"/>
                </a:solidFill>
              </a:rPr>
              <a:t>Preparation</a:t>
            </a:r>
            <a:endParaRPr sz="1500">
              <a:solidFill>
                <a:schemeClr val="lt1"/>
              </a:solidFill>
            </a:endParaRPr>
          </a:p>
        </p:txBody>
      </p:sp>
      <p:grpSp>
        <p:nvGrpSpPr>
          <p:cNvPr id="197" name="Google Shape;197;p24"/>
          <p:cNvGrpSpPr/>
          <p:nvPr/>
        </p:nvGrpSpPr>
        <p:grpSpPr>
          <a:xfrm>
            <a:off x="2677232" y="3318383"/>
            <a:ext cx="198900" cy="593656"/>
            <a:chOff x="2223534" y="2938958"/>
            <a:chExt cx="198900" cy="593656"/>
          </a:xfrm>
        </p:grpSpPr>
        <p:cxnSp>
          <p:nvCxnSpPr>
            <p:cNvPr id="198" name="Google Shape;198;p24"/>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99" name="Google Shape;199;p24"/>
            <p:cNvSpPr/>
            <p:nvPr/>
          </p:nvSpPr>
          <p:spPr>
            <a:xfrm flipH="1" rot="10800000">
              <a:off x="2223534"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0" name="Google Shape;200;p24"/>
          <p:cNvSpPr txBox="1"/>
          <p:nvPr>
            <p:ph idx="4294967295" type="body"/>
          </p:nvPr>
        </p:nvSpPr>
        <p:spPr>
          <a:xfrm>
            <a:off x="1885075" y="4044050"/>
            <a:ext cx="1872300" cy="906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t>Data Collection &amp; Data Preparation </a:t>
            </a:r>
            <a:endParaRPr sz="1400"/>
          </a:p>
        </p:txBody>
      </p:sp>
      <p:sp>
        <p:nvSpPr>
          <p:cNvPr descr="Background pointer shape in timeline graphic" id="201" name="Google Shape;201;p24"/>
          <p:cNvSpPr/>
          <p:nvPr/>
        </p:nvSpPr>
        <p:spPr>
          <a:xfrm>
            <a:off x="3464573" y="2578425"/>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300"/>
          </a:p>
        </p:txBody>
      </p:sp>
      <p:sp>
        <p:nvSpPr>
          <p:cNvPr id="202" name="Google Shape;202;p24"/>
          <p:cNvSpPr txBox="1"/>
          <p:nvPr>
            <p:ph idx="4294967295" type="body"/>
          </p:nvPr>
        </p:nvSpPr>
        <p:spPr>
          <a:xfrm>
            <a:off x="3832380" y="2715975"/>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500">
                <a:solidFill>
                  <a:schemeClr val="lt1"/>
                </a:solidFill>
              </a:rPr>
              <a:t>Analysis</a:t>
            </a:r>
            <a:endParaRPr b="1" sz="1500">
              <a:solidFill>
                <a:schemeClr val="lt1"/>
              </a:solidFill>
            </a:endParaRPr>
          </a:p>
        </p:txBody>
      </p:sp>
      <p:grpSp>
        <p:nvGrpSpPr>
          <p:cNvPr id="203" name="Google Shape;203;p24"/>
          <p:cNvGrpSpPr/>
          <p:nvPr/>
        </p:nvGrpSpPr>
        <p:grpSpPr>
          <a:xfrm>
            <a:off x="4312145" y="1989640"/>
            <a:ext cx="198900" cy="593656"/>
            <a:chOff x="3918084" y="1610215"/>
            <a:chExt cx="198900" cy="593656"/>
          </a:xfrm>
        </p:grpSpPr>
        <p:cxnSp>
          <p:nvCxnSpPr>
            <p:cNvPr id="204" name="Google Shape;204;p24"/>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205" name="Google Shape;205;p24"/>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6" name="Google Shape;206;p24"/>
          <p:cNvSpPr txBox="1"/>
          <p:nvPr>
            <p:ph idx="4294967295" type="body"/>
          </p:nvPr>
        </p:nvSpPr>
        <p:spPr>
          <a:xfrm>
            <a:off x="2631688" y="1207775"/>
            <a:ext cx="3559800" cy="906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1400"/>
              <a:t>Exploratory analysis of relationships between key variables + Testing accuracy.</a:t>
            </a:r>
            <a:endParaRPr sz="1400"/>
          </a:p>
        </p:txBody>
      </p:sp>
      <p:sp>
        <p:nvSpPr>
          <p:cNvPr descr="Background pointer shape in timeline graphic" id="207" name="Google Shape;207;p24"/>
          <p:cNvSpPr/>
          <p:nvPr/>
        </p:nvSpPr>
        <p:spPr>
          <a:xfrm>
            <a:off x="5119493" y="2578425"/>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300"/>
          </a:p>
        </p:txBody>
      </p:sp>
      <p:sp>
        <p:nvSpPr>
          <p:cNvPr id="208" name="Google Shape;208;p24"/>
          <p:cNvSpPr txBox="1"/>
          <p:nvPr>
            <p:ph idx="4294967295" type="body"/>
          </p:nvPr>
        </p:nvSpPr>
        <p:spPr>
          <a:xfrm>
            <a:off x="5468237" y="2715975"/>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500">
                <a:solidFill>
                  <a:schemeClr val="lt1"/>
                </a:solidFill>
              </a:rPr>
              <a:t>Expansions</a:t>
            </a:r>
            <a:endParaRPr b="1" sz="1500">
              <a:solidFill>
                <a:schemeClr val="lt1"/>
              </a:solidFill>
            </a:endParaRPr>
          </a:p>
        </p:txBody>
      </p:sp>
      <p:grpSp>
        <p:nvGrpSpPr>
          <p:cNvPr id="209" name="Google Shape;209;p24"/>
          <p:cNvGrpSpPr/>
          <p:nvPr/>
        </p:nvGrpSpPr>
        <p:grpSpPr>
          <a:xfrm>
            <a:off x="5965670" y="3318383"/>
            <a:ext cx="198900" cy="593656"/>
            <a:chOff x="5958946" y="2938958"/>
            <a:chExt cx="198900" cy="593656"/>
          </a:xfrm>
        </p:grpSpPr>
        <p:cxnSp>
          <p:nvCxnSpPr>
            <p:cNvPr id="210" name="Google Shape;210;p24"/>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211" name="Google Shape;211;p24"/>
            <p:cNvSpPr/>
            <p:nvPr/>
          </p:nvSpPr>
          <p:spPr>
            <a:xfrm flipH="1" rot="10800000">
              <a:off x="5958946" y="3333714"/>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2" name="Google Shape;212;p24"/>
          <p:cNvSpPr txBox="1"/>
          <p:nvPr>
            <p:ph idx="4294967295" type="body"/>
          </p:nvPr>
        </p:nvSpPr>
        <p:spPr>
          <a:xfrm>
            <a:off x="4617024" y="4044050"/>
            <a:ext cx="2896200" cy="906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Explore into the “why” and “how” to possibly explain/expand on observations.</a:t>
            </a:r>
            <a:endParaRPr sz="1400"/>
          </a:p>
          <a:p>
            <a:pPr indent="0" lvl="0" marL="0" rtl="0" algn="ctr">
              <a:spcBef>
                <a:spcPts val="1600"/>
              </a:spcBef>
              <a:spcAft>
                <a:spcPts val="1600"/>
              </a:spcAft>
              <a:buNone/>
            </a:pPr>
            <a:r>
              <a:t/>
            </a:r>
            <a:endParaRPr sz="1400"/>
          </a:p>
        </p:txBody>
      </p:sp>
      <p:sp>
        <p:nvSpPr>
          <p:cNvPr descr="Background pointer shape in timeline graphic" id="213" name="Google Shape;213;p24"/>
          <p:cNvSpPr/>
          <p:nvPr/>
        </p:nvSpPr>
        <p:spPr>
          <a:xfrm>
            <a:off x="6774413" y="2578425"/>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300"/>
          </a:p>
        </p:txBody>
      </p:sp>
      <p:sp>
        <p:nvSpPr>
          <p:cNvPr id="214" name="Google Shape;214;p24"/>
          <p:cNvSpPr txBox="1"/>
          <p:nvPr>
            <p:ph idx="4294967295" type="body"/>
          </p:nvPr>
        </p:nvSpPr>
        <p:spPr>
          <a:xfrm>
            <a:off x="7104112" y="2715975"/>
            <a:ext cx="1315500" cy="470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500">
                <a:solidFill>
                  <a:schemeClr val="lt1"/>
                </a:solidFill>
              </a:rPr>
              <a:t>Conclusions</a:t>
            </a:r>
            <a:endParaRPr b="1" sz="1500">
              <a:solidFill>
                <a:schemeClr val="lt1"/>
              </a:solidFill>
            </a:endParaRPr>
          </a:p>
        </p:txBody>
      </p:sp>
      <p:grpSp>
        <p:nvGrpSpPr>
          <p:cNvPr id="215" name="Google Shape;215;p24"/>
          <p:cNvGrpSpPr/>
          <p:nvPr/>
        </p:nvGrpSpPr>
        <p:grpSpPr>
          <a:xfrm>
            <a:off x="7662407" y="1989640"/>
            <a:ext cx="198900" cy="593656"/>
            <a:chOff x="3918084" y="1610215"/>
            <a:chExt cx="198900" cy="593656"/>
          </a:xfrm>
        </p:grpSpPr>
        <p:cxnSp>
          <p:nvCxnSpPr>
            <p:cNvPr id="216" name="Google Shape;216;p24"/>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217" name="Google Shape;217;p24"/>
            <p:cNvSpPr/>
            <p:nvPr/>
          </p:nvSpPr>
          <p:spPr>
            <a:xfrm>
              <a:off x="3918084" y="1610215"/>
              <a:ext cx="198900" cy="1989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8" name="Google Shape;218;p24"/>
          <p:cNvSpPr txBox="1"/>
          <p:nvPr>
            <p:ph idx="4294967295" type="body"/>
          </p:nvPr>
        </p:nvSpPr>
        <p:spPr>
          <a:xfrm>
            <a:off x="6663250" y="1171575"/>
            <a:ext cx="2197200" cy="1224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400"/>
              <a:t>Key takeaways from our analysis</a:t>
            </a:r>
            <a:endParaRPr sz="1400"/>
          </a:p>
          <a:p>
            <a:pPr indent="0" lvl="0" marL="0" rtl="0" algn="ctr">
              <a:spcBef>
                <a:spcPts val="1600"/>
              </a:spcBef>
              <a:spcAft>
                <a:spcPts val="1600"/>
              </a:spcAft>
              <a:buNone/>
            </a:pPr>
            <a:r>
              <a:t/>
            </a:r>
            <a:endParaRPr sz="1400"/>
          </a:p>
        </p:txBody>
      </p:sp>
      <p:sp>
        <p:nvSpPr>
          <p:cNvPr id="219" name="Google Shape;219;p24"/>
          <p:cNvSpPr txBox="1"/>
          <p:nvPr>
            <p:ph idx="4294967295" type="title"/>
          </p:nvPr>
        </p:nvSpPr>
        <p:spPr>
          <a:xfrm>
            <a:off x="311700" y="381525"/>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Timeline of Analysis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txBox="1"/>
          <p:nvPr>
            <p:ph type="title"/>
          </p:nvPr>
        </p:nvSpPr>
        <p:spPr>
          <a:xfrm>
            <a:off x="323613" y="3462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Exploratory Data Analysis</a:t>
            </a:r>
            <a:endParaRPr/>
          </a:p>
        </p:txBody>
      </p:sp>
      <p:sp>
        <p:nvSpPr>
          <p:cNvPr id="225" name="Google Shape;225;p25"/>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pic>
        <p:nvPicPr>
          <p:cNvPr id="226" name="Google Shape;226;p25"/>
          <p:cNvPicPr preferRelativeResize="0"/>
          <p:nvPr/>
        </p:nvPicPr>
        <p:blipFill rotWithShape="1">
          <a:blip r:embed="rId3">
            <a:alphaModFix/>
          </a:blip>
          <a:srcRect b="19794" l="0" r="22160" t="0"/>
          <a:stretch/>
        </p:blipFill>
        <p:spPr>
          <a:xfrm>
            <a:off x="69125" y="1179475"/>
            <a:ext cx="4219275" cy="3540725"/>
          </a:xfrm>
          <a:prstGeom prst="rect">
            <a:avLst/>
          </a:prstGeom>
          <a:noFill/>
          <a:ln>
            <a:noFill/>
          </a:ln>
        </p:spPr>
      </p:pic>
      <p:pic>
        <p:nvPicPr>
          <p:cNvPr id="227" name="Google Shape;227;p25"/>
          <p:cNvPicPr preferRelativeResize="0"/>
          <p:nvPr/>
        </p:nvPicPr>
        <p:blipFill rotWithShape="1">
          <a:blip r:embed="rId4">
            <a:alphaModFix/>
          </a:blip>
          <a:srcRect b="19080" l="0" r="23594" t="0"/>
          <a:stretch/>
        </p:blipFill>
        <p:spPr>
          <a:xfrm>
            <a:off x="4154000" y="1215825"/>
            <a:ext cx="4063129" cy="3504375"/>
          </a:xfrm>
          <a:prstGeom prst="rect">
            <a:avLst/>
          </a:prstGeom>
          <a:noFill/>
          <a:ln>
            <a:noFill/>
          </a:ln>
        </p:spPr>
      </p:pic>
      <p:pic>
        <p:nvPicPr>
          <p:cNvPr id="228" name="Google Shape;228;p25"/>
          <p:cNvPicPr preferRelativeResize="0"/>
          <p:nvPr/>
        </p:nvPicPr>
        <p:blipFill rotWithShape="1">
          <a:blip r:embed="rId5">
            <a:alphaModFix/>
          </a:blip>
          <a:srcRect b="1683" l="4285" r="6611" t="1557"/>
          <a:stretch/>
        </p:blipFill>
        <p:spPr>
          <a:xfrm>
            <a:off x="8168750" y="645175"/>
            <a:ext cx="854200" cy="34259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6"/>
          <p:cNvSpPr txBox="1"/>
          <p:nvPr>
            <p:ph type="title"/>
          </p:nvPr>
        </p:nvSpPr>
        <p:spPr>
          <a:xfrm>
            <a:off x="296275" y="14298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Results</a:t>
            </a:r>
            <a:endParaRPr/>
          </a:p>
        </p:txBody>
      </p:sp>
      <p:sp>
        <p:nvSpPr>
          <p:cNvPr id="234" name="Google Shape;234;p2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EDA</a:t>
            </a:r>
            <a:endParaRPr sz="1400"/>
          </a:p>
          <a:p>
            <a:pPr indent="-317500" lvl="0" marL="457200" rtl="0" algn="l">
              <a:spcBef>
                <a:spcPts val="0"/>
              </a:spcBef>
              <a:spcAft>
                <a:spcPts val="0"/>
              </a:spcAft>
              <a:buSzPts val="1400"/>
              <a:buChar char="●"/>
            </a:pPr>
            <a:r>
              <a:rPr lang="en" sz="1400"/>
              <a:t>Fixed Effects Panel Regression</a:t>
            </a:r>
            <a:endParaRPr sz="1400"/>
          </a:p>
          <a:p>
            <a:pPr indent="-317500" lvl="0" marL="457200" rtl="0" algn="l">
              <a:spcBef>
                <a:spcPts val="0"/>
              </a:spcBef>
              <a:spcAft>
                <a:spcPts val="0"/>
              </a:spcAft>
              <a:buSzPts val="1400"/>
              <a:buChar char="●"/>
            </a:pPr>
            <a:r>
              <a:rPr lang="en" sz="1400"/>
              <a:t>Model Quality &amp; Statistical Results</a:t>
            </a:r>
            <a:endParaRPr sz="1400"/>
          </a:p>
          <a:p>
            <a:pPr indent="-317500" lvl="0" marL="457200" rtl="0" algn="l">
              <a:spcBef>
                <a:spcPts val="0"/>
              </a:spcBef>
              <a:spcAft>
                <a:spcPts val="0"/>
              </a:spcAft>
              <a:buSzPts val="1400"/>
              <a:buChar char="●"/>
            </a:pPr>
            <a:r>
              <a:rPr lang="en" sz="1400"/>
              <a:t>Lag Analysis </a:t>
            </a:r>
            <a:endParaRPr sz="1400"/>
          </a:p>
          <a:p>
            <a:pPr indent="-317500" lvl="0" marL="457200" rtl="0" algn="l">
              <a:spcBef>
                <a:spcPts val="0"/>
              </a:spcBef>
              <a:spcAft>
                <a:spcPts val="0"/>
              </a:spcAft>
              <a:buSzPts val="1400"/>
              <a:buChar char="●"/>
            </a:pPr>
            <a:r>
              <a:rPr lang="en" sz="1400"/>
              <a:t>Robustness Checks</a:t>
            </a:r>
            <a:endParaRPr sz="1400"/>
          </a:p>
          <a:p>
            <a:pPr indent="-317500" lvl="0" marL="457200" rtl="0" algn="l">
              <a:spcBef>
                <a:spcPts val="0"/>
              </a:spcBef>
              <a:spcAft>
                <a:spcPts val="0"/>
              </a:spcAft>
              <a:buSzPts val="1400"/>
              <a:buChar char="●"/>
            </a:pPr>
            <a:r>
              <a:rPr lang="en" sz="1400"/>
              <a:t>Interpretation of Model Performance</a:t>
            </a:r>
            <a:endParaRPr sz="1400"/>
          </a:p>
          <a:p>
            <a:pPr indent="-317500" lvl="0" marL="457200" rtl="0" algn="l">
              <a:spcBef>
                <a:spcPts val="0"/>
              </a:spcBef>
              <a:spcAft>
                <a:spcPts val="0"/>
              </a:spcAft>
              <a:buSzPts val="1400"/>
              <a:buChar char="●"/>
            </a:pPr>
            <a:r>
              <a:rPr lang="en" sz="1400"/>
              <a:t>Expansion Analysis</a:t>
            </a:r>
            <a:endParaRPr sz="1400"/>
          </a:p>
          <a:p>
            <a:pPr indent="0" lvl="0" marL="0" rtl="0" algn="l">
              <a:spcBef>
                <a:spcPts val="800"/>
              </a:spcBef>
              <a:spcAft>
                <a:spcPts val="8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7"/>
          <p:cNvSpPr txBox="1"/>
          <p:nvPr>
            <p:ph type="title"/>
          </p:nvPr>
        </p:nvSpPr>
        <p:spPr>
          <a:xfrm>
            <a:off x="323625" y="346200"/>
            <a:ext cx="8520600" cy="10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Fixed Effects Panel Regression Results</a:t>
            </a:r>
            <a:endParaRPr/>
          </a:p>
          <a:p>
            <a:pPr indent="0" lvl="0" marL="0" rtl="0" algn="l">
              <a:spcBef>
                <a:spcPts val="0"/>
              </a:spcBef>
              <a:spcAft>
                <a:spcPts val="0"/>
              </a:spcAft>
              <a:buNone/>
            </a:pPr>
            <a:r>
              <a:t/>
            </a:r>
            <a:endParaRPr i="1" sz="800">
              <a:solidFill>
                <a:schemeClr val="dk2"/>
              </a:solidFill>
            </a:endParaRPr>
          </a:p>
          <a:p>
            <a:pPr indent="0" lvl="0" marL="0" rtl="0" algn="l">
              <a:spcBef>
                <a:spcPts val="0"/>
              </a:spcBef>
              <a:spcAft>
                <a:spcPts val="0"/>
              </a:spcAft>
              <a:buNone/>
            </a:pPr>
            <a:r>
              <a:rPr i="1" lang="en" sz="1600">
                <a:solidFill>
                  <a:schemeClr val="dk2"/>
                </a:solidFill>
              </a:rPr>
              <a:t>Do Renewables Reduce </a:t>
            </a:r>
            <a:r>
              <a:rPr i="1" lang="en" sz="1600">
                <a:solidFill>
                  <a:schemeClr val="dk2"/>
                </a:solidFill>
              </a:rPr>
              <a:t>CO₂ emissions?</a:t>
            </a:r>
            <a:endParaRPr i="1" sz="1600">
              <a:solidFill>
                <a:schemeClr val="dk2"/>
              </a:solidFill>
            </a:endParaRPr>
          </a:p>
        </p:txBody>
      </p:sp>
      <p:sp>
        <p:nvSpPr>
          <p:cNvPr id="240" name="Google Shape;240;p27"/>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41" name="Google Shape;241;p27"/>
          <p:cNvSpPr txBox="1"/>
          <p:nvPr/>
        </p:nvSpPr>
        <p:spPr>
          <a:xfrm>
            <a:off x="513350" y="1413300"/>
            <a:ext cx="8204700" cy="3730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300"/>
              </a:spcBef>
              <a:spcAft>
                <a:spcPts val="0"/>
              </a:spcAft>
              <a:buClr>
                <a:srgbClr val="0D1117"/>
              </a:buClr>
              <a:buSzPts val="1400"/>
              <a:buFont typeface="Courier New"/>
              <a:buChar char="●"/>
            </a:pPr>
            <a:r>
              <a:rPr lang="en" sz="1600">
                <a:solidFill>
                  <a:srgbClr val="1F1F1F"/>
                </a:solidFill>
              </a:rPr>
              <a:t>Country-year panel model (2010-2024)</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Controls for all time-invariant country factors + global year shocks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Key predictors</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Renewable energy share </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GDP per capita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b="1" lang="en" sz="1600">
                <a:solidFill>
                  <a:srgbClr val="1F1F1F"/>
                </a:solidFill>
              </a:rPr>
              <a:t>Main finding:</a:t>
            </a:r>
            <a:r>
              <a:rPr lang="en" sz="1600">
                <a:solidFill>
                  <a:srgbClr val="1F1F1F"/>
                </a:solidFill>
              </a:rPr>
              <a:t> Higher renewable share → lower CO₂ emissions per capita</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Effects remain after controlling for economic conditions </a:t>
            </a:r>
            <a:endParaRPr sz="1600">
              <a:solidFill>
                <a:srgbClr val="1F1F1F"/>
              </a:solidFill>
            </a:endParaRPr>
          </a:p>
          <a:p>
            <a:pPr indent="0" lvl="0" marL="0" rtl="0" algn="l">
              <a:lnSpc>
                <a:spcPct val="150000"/>
              </a:lnSpc>
              <a:spcBef>
                <a:spcPts val="1200"/>
              </a:spcBef>
              <a:spcAft>
                <a:spcPts val="0"/>
              </a:spcAft>
              <a:buNone/>
            </a:pPr>
            <a:r>
              <a:t/>
            </a:r>
            <a:endParaRPr sz="1100">
              <a:solidFill>
                <a:srgbClr val="0D1117"/>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txBox="1"/>
          <p:nvPr>
            <p:ph type="title"/>
          </p:nvPr>
        </p:nvSpPr>
        <p:spPr>
          <a:xfrm>
            <a:off x="323625" y="346200"/>
            <a:ext cx="8520600" cy="10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Quality &amp; Statistical Results</a:t>
            </a:r>
            <a:endParaRPr/>
          </a:p>
          <a:p>
            <a:pPr indent="0" lvl="0" marL="0" rtl="0" algn="l">
              <a:spcBef>
                <a:spcPts val="0"/>
              </a:spcBef>
              <a:spcAft>
                <a:spcPts val="0"/>
              </a:spcAft>
              <a:buNone/>
            </a:pPr>
            <a:r>
              <a:t/>
            </a:r>
            <a:endParaRPr i="1" sz="800">
              <a:solidFill>
                <a:schemeClr val="dk2"/>
              </a:solidFill>
            </a:endParaRPr>
          </a:p>
          <a:p>
            <a:pPr indent="0" lvl="0" marL="0" rtl="0" algn="l">
              <a:spcBef>
                <a:spcPts val="0"/>
              </a:spcBef>
              <a:spcAft>
                <a:spcPts val="0"/>
              </a:spcAft>
              <a:buNone/>
            </a:pPr>
            <a:r>
              <a:rPr i="1" lang="en" sz="1600">
                <a:solidFill>
                  <a:schemeClr val="dk2"/>
                </a:solidFill>
              </a:rPr>
              <a:t>What’s our evaluation of the model quality</a:t>
            </a:r>
            <a:r>
              <a:rPr i="1" lang="en" sz="1600">
                <a:solidFill>
                  <a:schemeClr val="dk2"/>
                </a:solidFill>
              </a:rPr>
              <a:t>?</a:t>
            </a:r>
            <a:endParaRPr i="1" sz="1600">
              <a:solidFill>
                <a:schemeClr val="dk2"/>
              </a:solidFill>
            </a:endParaRPr>
          </a:p>
        </p:txBody>
      </p:sp>
      <p:sp>
        <p:nvSpPr>
          <p:cNvPr id="247" name="Google Shape;247;p28"/>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48" name="Google Shape;248;p28"/>
          <p:cNvSpPr txBox="1"/>
          <p:nvPr/>
        </p:nvSpPr>
        <p:spPr>
          <a:xfrm>
            <a:off x="513350" y="1413300"/>
            <a:ext cx="8204700" cy="3730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300"/>
              </a:spcBef>
              <a:spcAft>
                <a:spcPts val="0"/>
              </a:spcAft>
              <a:buClr>
                <a:srgbClr val="0D1117"/>
              </a:buClr>
              <a:buSzPts val="1400"/>
              <a:buFont typeface="Courier New"/>
              <a:buChar char="●"/>
            </a:pPr>
            <a:r>
              <a:rPr lang="en" sz="1600">
                <a:solidFill>
                  <a:srgbClr val="1F1F1F"/>
                </a:solidFill>
              </a:rPr>
              <a:t>High explanatory power (R² ≈ 0.985 in baseline fixed effects model)</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Strong statistical significance for key variables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Renewable share coefficient </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Negative, statistically significant (p &lt; 0.001) </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Suggests measurable emissions reduction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GDP per capita: positive and significant, consistent with higher energy demand </a:t>
            </a:r>
            <a:endParaRPr sz="1600">
              <a:solidFill>
                <a:srgbClr val="1F1F1F"/>
              </a:solidFill>
            </a:endParaRPr>
          </a:p>
          <a:p>
            <a:pPr indent="0" lvl="0" marL="0" rtl="0" algn="l">
              <a:lnSpc>
                <a:spcPct val="150000"/>
              </a:lnSpc>
              <a:spcBef>
                <a:spcPts val="1200"/>
              </a:spcBef>
              <a:spcAft>
                <a:spcPts val="0"/>
              </a:spcAft>
              <a:buNone/>
            </a:pPr>
            <a:r>
              <a:t/>
            </a:r>
            <a:endParaRPr sz="1100">
              <a:solidFill>
                <a:srgbClr val="0D1117"/>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323625" y="346200"/>
            <a:ext cx="8520600" cy="10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Lag Analysis</a:t>
            </a:r>
            <a:endParaRPr/>
          </a:p>
          <a:p>
            <a:pPr indent="0" lvl="0" marL="0" rtl="0" algn="l">
              <a:spcBef>
                <a:spcPts val="0"/>
              </a:spcBef>
              <a:spcAft>
                <a:spcPts val="0"/>
              </a:spcAft>
              <a:buNone/>
            </a:pPr>
            <a:r>
              <a:t/>
            </a:r>
            <a:endParaRPr i="1" sz="800">
              <a:solidFill>
                <a:schemeClr val="dk2"/>
              </a:solidFill>
            </a:endParaRPr>
          </a:p>
          <a:p>
            <a:pPr indent="0" lvl="0" marL="0" rtl="0" algn="l">
              <a:spcBef>
                <a:spcPts val="0"/>
              </a:spcBef>
              <a:spcAft>
                <a:spcPts val="0"/>
              </a:spcAft>
              <a:buNone/>
            </a:pPr>
            <a:r>
              <a:rPr i="1" lang="en" sz="1600">
                <a:solidFill>
                  <a:schemeClr val="dk2"/>
                </a:solidFill>
              </a:rPr>
              <a:t>Do Renewables Reduce Emissions Immediately or Over Time?</a:t>
            </a:r>
            <a:endParaRPr i="1" sz="1600">
              <a:solidFill>
                <a:schemeClr val="dk2"/>
              </a:solidFill>
            </a:endParaRPr>
          </a:p>
        </p:txBody>
      </p:sp>
      <p:sp>
        <p:nvSpPr>
          <p:cNvPr id="254" name="Google Shape;254;p29"/>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55" name="Google Shape;255;p29"/>
          <p:cNvSpPr txBox="1"/>
          <p:nvPr/>
        </p:nvSpPr>
        <p:spPr>
          <a:xfrm>
            <a:off x="513350" y="1413300"/>
            <a:ext cx="8204700" cy="3730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300"/>
              </a:spcBef>
              <a:spcAft>
                <a:spcPts val="0"/>
              </a:spcAft>
              <a:buClr>
                <a:srgbClr val="0D1117"/>
              </a:buClr>
              <a:buSzPts val="1400"/>
              <a:buFont typeface="Courier New"/>
              <a:buChar char="●"/>
            </a:pPr>
            <a:r>
              <a:rPr lang="en" sz="1600">
                <a:solidFill>
                  <a:srgbClr val="1F1F1F"/>
                </a:solidFill>
              </a:rPr>
              <a:t>Tested 1-year and 2-year lags of renewable share</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b="1" lang="en" sz="1600">
                <a:solidFill>
                  <a:srgbClr val="1F1F1F"/>
                </a:solidFill>
              </a:rPr>
              <a:t>Current-year coefficient:</a:t>
            </a:r>
            <a:r>
              <a:rPr lang="en" sz="1600">
                <a:solidFill>
                  <a:srgbClr val="1F1F1F"/>
                </a:solidFill>
              </a:rPr>
              <a:t> large, negative significant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b="1" lang="en" sz="1600">
                <a:solidFill>
                  <a:srgbClr val="1F1F1F"/>
                </a:solidFill>
              </a:rPr>
              <a:t>1-year lag:</a:t>
            </a:r>
            <a:r>
              <a:rPr lang="en" sz="1600">
                <a:solidFill>
                  <a:srgbClr val="1F1F1F"/>
                </a:solidFill>
              </a:rPr>
              <a:t> smaller but still negative and significant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b="1" lang="en" sz="1600">
                <a:solidFill>
                  <a:srgbClr val="1F1F1F"/>
                </a:solidFill>
              </a:rPr>
              <a:t>2-year lag:</a:t>
            </a:r>
            <a:r>
              <a:rPr lang="en" sz="1600">
                <a:solidFill>
                  <a:srgbClr val="1F1F1F"/>
                </a:solidFill>
              </a:rPr>
              <a:t> negative but not statistically significant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Interpretation: strongest impact occurs in year of adoption and the following year </a:t>
            </a:r>
            <a:endParaRPr sz="1600">
              <a:solidFill>
                <a:srgbClr val="1F1F1F"/>
              </a:solidFill>
            </a:endParaRPr>
          </a:p>
          <a:p>
            <a:pPr indent="0" lvl="0" marL="0" rtl="0" algn="l">
              <a:lnSpc>
                <a:spcPct val="150000"/>
              </a:lnSpc>
              <a:spcBef>
                <a:spcPts val="1200"/>
              </a:spcBef>
              <a:spcAft>
                <a:spcPts val="0"/>
              </a:spcAft>
              <a:buNone/>
            </a:pPr>
            <a:r>
              <a:t/>
            </a:r>
            <a:endParaRPr sz="1100">
              <a:solidFill>
                <a:srgbClr val="0D1117"/>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0"/>
          <p:cNvSpPr txBox="1"/>
          <p:nvPr>
            <p:ph type="title"/>
          </p:nvPr>
        </p:nvSpPr>
        <p:spPr>
          <a:xfrm>
            <a:off x="323625" y="346200"/>
            <a:ext cx="8520600" cy="10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Robustness Checks</a:t>
            </a:r>
            <a:endParaRPr/>
          </a:p>
          <a:p>
            <a:pPr indent="0" lvl="0" marL="0" rtl="0" algn="l">
              <a:spcBef>
                <a:spcPts val="0"/>
              </a:spcBef>
              <a:spcAft>
                <a:spcPts val="0"/>
              </a:spcAft>
              <a:buNone/>
            </a:pPr>
            <a:r>
              <a:t/>
            </a:r>
            <a:endParaRPr i="1" sz="800">
              <a:solidFill>
                <a:schemeClr val="dk2"/>
              </a:solidFill>
            </a:endParaRPr>
          </a:p>
          <a:p>
            <a:pPr indent="0" lvl="0" marL="0" rtl="0" algn="l">
              <a:spcBef>
                <a:spcPts val="0"/>
              </a:spcBef>
              <a:spcAft>
                <a:spcPts val="0"/>
              </a:spcAft>
              <a:buNone/>
            </a:pPr>
            <a:r>
              <a:rPr i="1" lang="en" sz="1600">
                <a:solidFill>
                  <a:schemeClr val="dk2"/>
                </a:solidFill>
              </a:rPr>
              <a:t>Do the Results Hold Under Different Assumptions?</a:t>
            </a:r>
            <a:endParaRPr i="1" sz="1600">
              <a:solidFill>
                <a:schemeClr val="dk2"/>
              </a:solidFill>
            </a:endParaRPr>
          </a:p>
        </p:txBody>
      </p:sp>
      <p:sp>
        <p:nvSpPr>
          <p:cNvPr id="261" name="Google Shape;261;p30"/>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62" name="Google Shape;262;p30"/>
          <p:cNvSpPr txBox="1"/>
          <p:nvPr/>
        </p:nvSpPr>
        <p:spPr>
          <a:xfrm>
            <a:off x="513350" y="1413300"/>
            <a:ext cx="8204700" cy="3730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300"/>
              </a:spcBef>
              <a:spcAft>
                <a:spcPts val="0"/>
              </a:spcAft>
              <a:buClr>
                <a:srgbClr val="0D1117"/>
              </a:buClr>
              <a:buSzPts val="1400"/>
              <a:buFont typeface="Courier New"/>
              <a:buChar char="●"/>
            </a:pPr>
            <a:r>
              <a:rPr lang="en" sz="1600">
                <a:solidFill>
                  <a:srgbClr val="1F1F1F"/>
                </a:solidFill>
              </a:rPr>
              <a:t>Removed outlier countries</a:t>
            </a:r>
            <a:r>
              <a:rPr lang="en" sz="1600">
                <a:solidFill>
                  <a:srgbClr val="1F1F1F"/>
                </a:solidFill>
              </a:rPr>
              <a:t> (very high/low emissions or renewable share)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Re-estimated the lag model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b="1" lang="en" sz="1600">
                <a:solidFill>
                  <a:srgbClr val="1F1F1F"/>
                </a:solidFill>
              </a:rPr>
              <a:t>Effects remain negative and stable </a:t>
            </a:r>
            <a:endParaRPr b="1"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Signs of coefficients unchanged</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Magnitudes highly similar </a:t>
            </a:r>
            <a:endParaRPr sz="1600">
              <a:solidFill>
                <a:srgbClr val="1F1F1F"/>
              </a:solidFill>
            </a:endParaRPr>
          </a:p>
          <a:p>
            <a:pPr indent="-330200" lvl="1" marL="914400" rtl="0" algn="l">
              <a:lnSpc>
                <a:spcPct val="150000"/>
              </a:lnSpc>
              <a:spcBef>
                <a:spcPts val="0"/>
              </a:spcBef>
              <a:spcAft>
                <a:spcPts val="0"/>
              </a:spcAft>
              <a:buClr>
                <a:srgbClr val="1F1F1F"/>
              </a:buClr>
              <a:buSzPts val="1600"/>
              <a:buChar char="○"/>
            </a:pPr>
            <a:r>
              <a:rPr lang="en" sz="1600">
                <a:solidFill>
                  <a:srgbClr val="1F1F1F"/>
                </a:solidFill>
              </a:rPr>
              <a:t>Main conclusions remain intact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Confirms findings are not driven by a few extreme cases</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Strengthens confidence in overall conclusions </a:t>
            </a:r>
            <a:endParaRPr sz="1600">
              <a:solidFill>
                <a:srgbClr val="1F1F1F"/>
              </a:solidFill>
            </a:endParaRPr>
          </a:p>
          <a:p>
            <a:pPr indent="0" lvl="0" marL="0" rtl="0" algn="l">
              <a:lnSpc>
                <a:spcPct val="150000"/>
              </a:lnSpc>
              <a:spcBef>
                <a:spcPts val="1200"/>
              </a:spcBef>
              <a:spcAft>
                <a:spcPts val="0"/>
              </a:spcAft>
              <a:buNone/>
            </a:pPr>
            <a:r>
              <a:t/>
            </a:r>
            <a:endParaRPr sz="1100">
              <a:solidFill>
                <a:srgbClr val="0D1117"/>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1"/>
          <p:cNvSpPr txBox="1"/>
          <p:nvPr>
            <p:ph type="title"/>
          </p:nvPr>
        </p:nvSpPr>
        <p:spPr>
          <a:xfrm>
            <a:off x="323625" y="346200"/>
            <a:ext cx="8520600" cy="106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Interpretation of Model Performance</a:t>
            </a:r>
            <a:endParaRPr/>
          </a:p>
          <a:p>
            <a:pPr indent="0" lvl="0" marL="0" rtl="0" algn="l">
              <a:spcBef>
                <a:spcPts val="0"/>
              </a:spcBef>
              <a:spcAft>
                <a:spcPts val="0"/>
              </a:spcAft>
              <a:buNone/>
            </a:pPr>
            <a:r>
              <a:t/>
            </a:r>
            <a:endParaRPr i="1" sz="800">
              <a:solidFill>
                <a:schemeClr val="dk2"/>
              </a:solidFill>
            </a:endParaRPr>
          </a:p>
          <a:p>
            <a:pPr indent="0" lvl="0" marL="0" rtl="0" algn="l">
              <a:spcBef>
                <a:spcPts val="0"/>
              </a:spcBef>
              <a:spcAft>
                <a:spcPts val="0"/>
              </a:spcAft>
              <a:buNone/>
            </a:pPr>
            <a:r>
              <a:rPr i="1" lang="en" sz="1600">
                <a:solidFill>
                  <a:schemeClr val="dk2"/>
                </a:solidFill>
              </a:rPr>
              <a:t>How Well Do the Models Answer the Research Question</a:t>
            </a:r>
            <a:r>
              <a:rPr i="1" lang="en" sz="1600">
                <a:solidFill>
                  <a:schemeClr val="dk2"/>
                </a:solidFill>
              </a:rPr>
              <a:t>?</a:t>
            </a:r>
            <a:endParaRPr i="1" sz="1600">
              <a:solidFill>
                <a:schemeClr val="dk2"/>
              </a:solidFill>
            </a:endParaRPr>
          </a:p>
        </p:txBody>
      </p:sp>
      <p:sp>
        <p:nvSpPr>
          <p:cNvPr id="268" name="Google Shape;268;p31"/>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69" name="Google Shape;269;p31"/>
          <p:cNvSpPr txBox="1"/>
          <p:nvPr/>
        </p:nvSpPr>
        <p:spPr>
          <a:xfrm>
            <a:off x="513350" y="1413300"/>
            <a:ext cx="8204700" cy="3730200"/>
          </a:xfrm>
          <a:prstGeom prst="rect">
            <a:avLst/>
          </a:prstGeom>
          <a:noFill/>
          <a:ln>
            <a:noFill/>
          </a:ln>
        </p:spPr>
        <p:txBody>
          <a:bodyPr anchorCtr="0" anchor="t" bIns="91425" lIns="91425" spcFirstLastPara="1" rIns="91425" wrap="square" tIns="91425">
            <a:noAutofit/>
          </a:bodyPr>
          <a:lstStyle/>
          <a:p>
            <a:pPr indent="-317500" lvl="0" marL="457200" rtl="0" algn="l">
              <a:lnSpc>
                <a:spcPct val="150000"/>
              </a:lnSpc>
              <a:spcBef>
                <a:spcPts val="300"/>
              </a:spcBef>
              <a:spcAft>
                <a:spcPts val="0"/>
              </a:spcAft>
              <a:buClr>
                <a:srgbClr val="0D1117"/>
              </a:buClr>
              <a:buSzPts val="1400"/>
              <a:buFont typeface="Courier New"/>
              <a:buChar char="●"/>
            </a:pPr>
            <a:r>
              <a:rPr lang="en" sz="1600">
                <a:solidFill>
                  <a:srgbClr val="1F1F1F"/>
                </a:solidFill>
              </a:rPr>
              <a:t>Clear and consistent evidence across all models</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Renewable share increase</a:t>
            </a:r>
            <a:r>
              <a:rPr lang="en" sz="1600">
                <a:solidFill>
                  <a:srgbClr val="1F1F1F"/>
                </a:solidFill>
              </a:rPr>
              <a:t> → lower CO₂</a:t>
            </a:r>
            <a:r>
              <a:rPr lang="en" sz="1600">
                <a:solidFill>
                  <a:srgbClr val="1F1F1F"/>
                </a:solidFill>
              </a:rPr>
              <a:t> per capita</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Effect appears to be both immediate and with a short-term lag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Supported by statistical significance and robustness </a:t>
            </a:r>
            <a:endParaRPr sz="1600">
              <a:solidFill>
                <a:srgbClr val="1F1F1F"/>
              </a:solidFill>
            </a:endParaRPr>
          </a:p>
          <a:p>
            <a:pPr indent="-330200" lvl="0" marL="457200" rtl="0" algn="l">
              <a:lnSpc>
                <a:spcPct val="150000"/>
              </a:lnSpc>
              <a:spcBef>
                <a:spcPts val="0"/>
              </a:spcBef>
              <a:spcAft>
                <a:spcPts val="0"/>
              </a:spcAft>
              <a:buClr>
                <a:srgbClr val="1F1F1F"/>
              </a:buClr>
              <a:buSzPts val="1600"/>
              <a:buChar char="●"/>
            </a:pPr>
            <a:r>
              <a:rPr lang="en" sz="1600">
                <a:solidFill>
                  <a:srgbClr val="1F1F1F"/>
                </a:solidFill>
              </a:rPr>
              <a:t>Models effectively answer the central research question </a:t>
            </a:r>
            <a:endParaRPr sz="1600">
              <a:solidFill>
                <a:srgbClr val="1F1F1F"/>
              </a:solidFill>
            </a:endParaRPr>
          </a:p>
          <a:p>
            <a:pPr indent="0" lvl="0" marL="0" rtl="0" algn="l">
              <a:lnSpc>
                <a:spcPct val="150000"/>
              </a:lnSpc>
              <a:spcBef>
                <a:spcPts val="1200"/>
              </a:spcBef>
              <a:spcAft>
                <a:spcPts val="0"/>
              </a:spcAft>
              <a:buNone/>
            </a:pPr>
            <a:r>
              <a:t/>
            </a:r>
            <a:endParaRPr sz="1100">
              <a:solidFill>
                <a:srgbClr val="0D1117"/>
              </a:solidFill>
              <a:highlight>
                <a:srgbClr val="FFFFFF"/>
              </a:highlight>
              <a:latin typeface="Courier New"/>
              <a:ea typeface="Courier New"/>
              <a:cs typeface="Courier New"/>
              <a:sym typeface="Courier New"/>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txBox="1"/>
          <p:nvPr>
            <p:ph type="title"/>
          </p:nvPr>
        </p:nvSpPr>
        <p:spPr>
          <a:xfrm>
            <a:off x="323613" y="3462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Expansions</a:t>
            </a:r>
            <a:endParaRPr/>
          </a:p>
        </p:txBody>
      </p:sp>
      <p:sp>
        <p:nvSpPr>
          <p:cNvPr id="275" name="Google Shape;275;p32"/>
          <p:cNvSpPr txBox="1"/>
          <p:nvPr/>
        </p:nvSpPr>
        <p:spPr>
          <a:xfrm>
            <a:off x="0" y="0"/>
            <a:ext cx="3000000" cy="346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highlight>
                  <a:srgbClr val="FFFFFF"/>
                </a:highlight>
                <a:latin typeface="Courier New"/>
                <a:ea typeface="Courier New"/>
                <a:cs typeface="Courier New"/>
                <a:sym typeface="Courier New"/>
              </a:rPr>
              <a:t> </a:t>
            </a:r>
            <a:endParaRPr sz="1050">
              <a:highlight>
                <a:srgbClr val="FFFFFF"/>
              </a:highlight>
              <a:latin typeface="Courier New"/>
              <a:ea typeface="Courier New"/>
              <a:cs typeface="Courier New"/>
              <a:sym typeface="Courier New"/>
            </a:endParaRPr>
          </a:p>
        </p:txBody>
      </p:sp>
      <p:sp>
        <p:nvSpPr>
          <p:cNvPr id="276" name="Google Shape;276;p32"/>
          <p:cNvSpPr txBox="1"/>
          <p:nvPr/>
        </p:nvSpPr>
        <p:spPr>
          <a:xfrm>
            <a:off x="323625" y="1041275"/>
            <a:ext cx="24993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100">
                <a:solidFill>
                  <a:schemeClr val="dk2"/>
                </a:solidFill>
              </a:rPr>
              <a:t>Is it possible for </a:t>
            </a:r>
            <a:r>
              <a:rPr i="1" lang="en" sz="1100">
                <a:solidFill>
                  <a:srgbClr val="262626"/>
                </a:solidFill>
                <a:highlight>
                  <a:srgbClr val="FFFFFF"/>
                </a:highlight>
              </a:rPr>
              <a:t>CO₂</a:t>
            </a:r>
            <a:r>
              <a:rPr i="1" lang="en" sz="1100">
                <a:highlight>
                  <a:srgbClr val="FFFFFF"/>
                </a:highlight>
              </a:rPr>
              <a:t> emissions to fall even when </a:t>
            </a:r>
            <a:r>
              <a:rPr i="1" lang="en" sz="1100">
                <a:highlight>
                  <a:srgbClr val="FFFFFF"/>
                </a:highlight>
              </a:rPr>
              <a:t>economies</a:t>
            </a:r>
            <a:r>
              <a:rPr i="1" lang="en" sz="1100">
                <a:highlight>
                  <a:srgbClr val="FFFFFF"/>
                </a:highlight>
              </a:rPr>
              <a:t> grow?</a:t>
            </a:r>
            <a:endParaRPr i="1" sz="1100">
              <a:solidFill>
                <a:schemeClr val="dk2"/>
              </a:solidFill>
            </a:endParaRPr>
          </a:p>
        </p:txBody>
      </p:sp>
      <p:sp>
        <p:nvSpPr>
          <p:cNvPr id="277" name="Google Shape;277;p32"/>
          <p:cNvSpPr txBox="1"/>
          <p:nvPr/>
        </p:nvSpPr>
        <p:spPr>
          <a:xfrm>
            <a:off x="109275" y="1736350"/>
            <a:ext cx="2928000" cy="24099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sz="1100"/>
              <a:t>Higher renewable share → </a:t>
            </a:r>
            <a:endParaRPr sz="1100"/>
          </a:p>
          <a:p>
            <a:pPr indent="0" lvl="0" marL="457200" rtl="0" algn="l">
              <a:spcBef>
                <a:spcPts val="0"/>
              </a:spcBef>
              <a:spcAft>
                <a:spcPts val="0"/>
              </a:spcAft>
              <a:buNone/>
            </a:pPr>
            <a:r>
              <a:rPr lang="en" sz="1100"/>
              <a:t>generally lower CO₂ per capita</a:t>
            </a:r>
            <a:br>
              <a:rPr lang="en" sz="1100"/>
            </a:br>
            <a:endParaRPr sz="1100"/>
          </a:p>
          <a:p>
            <a:pPr indent="-298450" lvl="0" marL="457200" rtl="0" algn="l">
              <a:spcBef>
                <a:spcPts val="0"/>
              </a:spcBef>
              <a:spcAft>
                <a:spcPts val="0"/>
              </a:spcAft>
              <a:buSzPts val="1100"/>
              <a:buChar char="●"/>
            </a:pPr>
            <a:r>
              <a:rPr lang="en" sz="1100"/>
              <a:t>Emissions can flatten or decline at mid/high GDP levels</a:t>
            </a:r>
            <a:br>
              <a:rPr lang="en" sz="1100"/>
            </a:br>
            <a:endParaRPr sz="1100"/>
          </a:p>
          <a:p>
            <a:pPr indent="-298450" lvl="0" marL="457200" rtl="0" algn="l">
              <a:spcBef>
                <a:spcPts val="0"/>
              </a:spcBef>
              <a:spcAft>
                <a:spcPts val="0"/>
              </a:spcAft>
              <a:buSzPts val="1100"/>
              <a:buChar char="●"/>
            </a:pPr>
            <a:r>
              <a:rPr lang="en" sz="1100"/>
              <a:t>Economic growth </a:t>
            </a:r>
            <a:r>
              <a:rPr b="1" lang="en" sz="1100"/>
              <a:t>does not automatically mean higher emissions</a:t>
            </a:r>
            <a:br>
              <a:rPr b="1" lang="en" sz="1100"/>
            </a:br>
            <a:endParaRPr b="1" sz="1100"/>
          </a:p>
          <a:p>
            <a:pPr indent="-298450" lvl="0" marL="457200" rtl="0" algn="l">
              <a:spcBef>
                <a:spcPts val="0"/>
              </a:spcBef>
              <a:spcAft>
                <a:spcPts val="0"/>
              </a:spcAft>
              <a:buSzPts val="1100"/>
              <a:buChar char="●"/>
            </a:pPr>
            <a:r>
              <a:rPr lang="en" sz="1100"/>
              <a:t>Clean energy makes “decoupling” growth from emissions possible</a:t>
            </a:r>
            <a:endParaRPr sz="1100"/>
          </a:p>
          <a:p>
            <a:pPr indent="0" lvl="0" marL="0" rtl="0" algn="l">
              <a:spcBef>
                <a:spcPts val="0"/>
              </a:spcBef>
              <a:spcAft>
                <a:spcPts val="0"/>
              </a:spcAft>
              <a:buNone/>
            </a:pPr>
            <a:r>
              <a:t/>
            </a:r>
            <a:endParaRPr sz="1800">
              <a:solidFill>
                <a:schemeClr val="dk2"/>
              </a:solidFill>
              <a:latin typeface="Roboto"/>
              <a:ea typeface="Roboto"/>
              <a:cs typeface="Roboto"/>
              <a:sym typeface="Roboto"/>
            </a:endParaRPr>
          </a:p>
        </p:txBody>
      </p:sp>
      <p:pic>
        <p:nvPicPr>
          <p:cNvPr id="278" name="Google Shape;278;p32"/>
          <p:cNvPicPr preferRelativeResize="0"/>
          <p:nvPr/>
        </p:nvPicPr>
        <p:blipFill>
          <a:blip r:embed="rId3">
            <a:alphaModFix/>
          </a:blip>
          <a:stretch>
            <a:fillRect/>
          </a:stretch>
        </p:blipFill>
        <p:spPr>
          <a:xfrm>
            <a:off x="3214350" y="584350"/>
            <a:ext cx="5696750" cy="40236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3"/>
          <p:cNvSpPr txBox="1"/>
          <p:nvPr>
            <p:ph type="title"/>
          </p:nvPr>
        </p:nvSpPr>
        <p:spPr>
          <a:xfrm>
            <a:off x="296275" y="1545600"/>
            <a:ext cx="4045200" cy="1564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Conclusion</a:t>
            </a:r>
            <a:endParaRPr/>
          </a:p>
        </p:txBody>
      </p:sp>
      <p:sp>
        <p:nvSpPr>
          <p:cNvPr id="284" name="Google Shape;284;p33"/>
          <p:cNvSpPr txBox="1"/>
          <p:nvPr>
            <p:ph idx="2" type="body"/>
          </p:nvPr>
        </p:nvSpPr>
        <p:spPr>
          <a:xfrm>
            <a:off x="4920200" y="1042650"/>
            <a:ext cx="3837000" cy="36951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sz="1400"/>
              <a:t>Key Takeaways</a:t>
            </a:r>
            <a:endParaRPr sz="1400"/>
          </a:p>
          <a:p>
            <a:pPr indent="0" lvl="0" marL="0" rtl="0" algn="l">
              <a:spcBef>
                <a:spcPts val="800"/>
              </a:spcBef>
              <a:spcAft>
                <a:spcPts val="8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Takeaways</a:t>
            </a:r>
            <a:endParaRPr/>
          </a:p>
        </p:txBody>
      </p:sp>
      <p:sp>
        <p:nvSpPr>
          <p:cNvPr id="290" name="Google Shape;290;p34"/>
          <p:cNvSpPr txBox="1"/>
          <p:nvPr/>
        </p:nvSpPr>
        <p:spPr>
          <a:xfrm>
            <a:off x="532700" y="1365325"/>
            <a:ext cx="2968500" cy="30702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300"/>
              </a:spcBef>
              <a:spcAft>
                <a:spcPts val="0"/>
              </a:spcAft>
              <a:buClr>
                <a:srgbClr val="1F1F1F"/>
              </a:buClr>
              <a:buSzPts val="1100"/>
              <a:buChar char="●"/>
            </a:pPr>
            <a:r>
              <a:rPr lang="en" sz="1100"/>
              <a:t>Higher renewable shares →                 lower CO₂ emissions per capita</a:t>
            </a:r>
            <a:br>
              <a:rPr lang="en" sz="1100"/>
            </a:br>
            <a:endParaRPr sz="1100"/>
          </a:p>
          <a:p>
            <a:pPr indent="-298450" lvl="0" marL="457200" rtl="0" algn="l">
              <a:lnSpc>
                <a:spcPct val="115000"/>
              </a:lnSpc>
              <a:spcBef>
                <a:spcPts val="0"/>
              </a:spcBef>
              <a:spcAft>
                <a:spcPts val="0"/>
              </a:spcAft>
              <a:buClr>
                <a:srgbClr val="1F1F1F"/>
              </a:buClr>
              <a:buSzPts val="1100"/>
              <a:buChar char="●"/>
            </a:pPr>
            <a:r>
              <a:rPr lang="en" sz="1100"/>
              <a:t>Emissions can decline </a:t>
            </a:r>
            <a:r>
              <a:rPr b="1" lang="en" sz="1100"/>
              <a:t>even with economic growth</a:t>
            </a:r>
            <a:br>
              <a:rPr b="1" lang="en" sz="1100"/>
            </a:br>
            <a:endParaRPr b="1" sz="1100"/>
          </a:p>
          <a:p>
            <a:pPr indent="-298450" lvl="0" marL="457200" rtl="0" algn="l">
              <a:lnSpc>
                <a:spcPct val="115000"/>
              </a:lnSpc>
              <a:spcBef>
                <a:spcPts val="0"/>
              </a:spcBef>
              <a:spcAft>
                <a:spcPts val="0"/>
              </a:spcAft>
              <a:buClr>
                <a:srgbClr val="1F1F1F"/>
              </a:buClr>
              <a:buSzPts val="1100"/>
              <a:buChar char="●"/>
            </a:pPr>
            <a:r>
              <a:rPr b="1" lang="en" sz="1100"/>
              <a:t>Lag analysis</a:t>
            </a:r>
            <a:r>
              <a:rPr lang="en" sz="1100"/>
              <a:t> shows reductions persist over future years</a:t>
            </a:r>
            <a:br>
              <a:rPr lang="en" sz="1100"/>
            </a:br>
            <a:endParaRPr sz="1100"/>
          </a:p>
          <a:p>
            <a:pPr indent="-298450" lvl="0" marL="457200" rtl="0" algn="l">
              <a:lnSpc>
                <a:spcPct val="115000"/>
              </a:lnSpc>
              <a:spcBef>
                <a:spcPts val="0"/>
              </a:spcBef>
              <a:spcAft>
                <a:spcPts val="0"/>
              </a:spcAft>
              <a:buClr>
                <a:srgbClr val="1F1F1F"/>
              </a:buClr>
              <a:buSzPts val="1100"/>
              <a:buChar char="●"/>
            </a:pPr>
            <a:r>
              <a:rPr b="1" lang="en" sz="1100"/>
              <a:t>“Decoupling”</a:t>
            </a:r>
            <a:r>
              <a:rPr lang="en" sz="1100"/>
              <a:t> the relationship:   Renewable energy breaks the historic GDP–emissions link</a:t>
            </a:r>
            <a:br>
              <a:rPr lang="en" sz="1100"/>
            </a:br>
            <a:endParaRPr sz="1100"/>
          </a:p>
          <a:p>
            <a:pPr indent="-298450" lvl="0" marL="457200" rtl="0" algn="l">
              <a:lnSpc>
                <a:spcPct val="115000"/>
              </a:lnSpc>
              <a:spcBef>
                <a:spcPts val="0"/>
              </a:spcBef>
              <a:spcAft>
                <a:spcPts val="0"/>
              </a:spcAft>
              <a:buClr>
                <a:srgbClr val="1F1F1F"/>
              </a:buClr>
              <a:buSzPts val="1100"/>
              <a:buChar char="●"/>
            </a:pPr>
            <a:r>
              <a:rPr lang="en" sz="1100"/>
              <a:t>Clean energy expansion supports sustainable development</a:t>
            </a:r>
            <a:endParaRPr sz="1100"/>
          </a:p>
          <a:p>
            <a:pPr indent="0" lvl="0" marL="457200" rtl="0" algn="l">
              <a:lnSpc>
                <a:spcPct val="115000"/>
              </a:lnSpc>
              <a:spcBef>
                <a:spcPts val="1200"/>
              </a:spcBef>
              <a:spcAft>
                <a:spcPts val="0"/>
              </a:spcAft>
              <a:buNone/>
            </a:pPr>
            <a:r>
              <a:t/>
            </a:r>
            <a:endParaRPr sz="1600">
              <a:solidFill>
                <a:srgbClr val="1F1F1F"/>
              </a:solidFill>
            </a:endParaRPr>
          </a:p>
          <a:p>
            <a:pPr indent="0" lvl="0" marL="457200" rtl="0" algn="l">
              <a:lnSpc>
                <a:spcPct val="115000"/>
              </a:lnSpc>
              <a:spcBef>
                <a:spcPts val="1200"/>
              </a:spcBef>
              <a:spcAft>
                <a:spcPts val="0"/>
              </a:spcAft>
              <a:buNone/>
            </a:pPr>
            <a:r>
              <a:t/>
            </a:r>
            <a:endParaRPr b="1" sz="1600">
              <a:solidFill>
                <a:srgbClr val="1F1F1F"/>
              </a:solidFill>
            </a:endParaRPr>
          </a:p>
          <a:p>
            <a:pPr indent="0" lvl="0" marL="0" rtl="0" algn="l">
              <a:spcBef>
                <a:spcPts val="1200"/>
              </a:spcBef>
              <a:spcAft>
                <a:spcPts val="0"/>
              </a:spcAft>
              <a:buNone/>
            </a:pPr>
            <a:r>
              <a:t/>
            </a:r>
            <a:endParaRPr sz="1800">
              <a:solidFill>
                <a:schemeClr val="dk2"/>
              </a:solidFill>
              <a:latin typeface="Roboto"/>
              <a:ea typeface="Roboto"/>
              <a:cs typeface="Roboto"/>
              <a:sym typeface="Roboto"/>
            </a:endParaRPr>
          </a:p>
        </p:txBody>
      </p:sp>
      <p:pic>
        <p:nvPicPr>
          <p:cNvPr id="291" name="Google Shape;291;p34"/>
          <p:cNvPicPr preferRelativeResize="0"/>
          <p:nvPr/>
        </p:nvPicPr>
        <p:blipFill>
          <a:blip r:embed="rId3">
            <a:alphaModFix/>
          </a:blip>
          <a:stretch>
            <a:fillRect/>
          </a:stretch>
        </p:blipFill>
        <p:spPr>
          <a:xfrm>
            <a:off x="3840150" y="1163100"/>
            <a:ext cx="5583025" cy="33402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txBox="1"/>
          <p:nvPr>
            <p:ph idx="1" type="subTitle"/>
          </p:nvPr>
        </p:nvSpPr>
        <p:spPr>
          <a:xfrm>
            <a:off x="3232050" y="1994250"/>
            <a:ext cx="2679900" cy="83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700"/>
              <a:t>Thank You!</a:t>
            </a:r>
            <a:endParaRPr sz="2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